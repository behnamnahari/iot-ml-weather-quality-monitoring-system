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9144000" cy="1625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6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78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14000" y="457200"/>
            <a:ext cx="3911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Tabriz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kern="0" spc="3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 COURSE PROJECT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311400"/>
            <a:ext cx="13970000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IoT-ML Weather &amp; Air Quality Monitoring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62000" y="34036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STM32-Based Environmental Monitoring with Machine Learning Prediction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40132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5461000"/>
            <a:ext cx="16256000" cy="3683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2000" y="6070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[Behnam Gholam Zadeh(team leader)], [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Nouri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], [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Yashar Salmani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], [Ali Aliloo], [Ali Arshia Maleki], [Helia Salmasi]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65532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Embedded Systems Engineering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70612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Electrical &amp; Computer Engineering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75692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160000" y="7950200"/>
            <a:ext cx="533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4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EDD8A55-FA8D-FD1D-37F2-72923DC35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3308" y="230295"/>
            <a:ext cx="1058562" cy="105856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13208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kern="0" spc="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2000" y="20066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51000" y="20701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51000" y="2451100"/>
            <a:ext cx="889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Motivation, Objectives &amp; System Features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2000" y="28448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2000" y="30480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51000" y="31115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51000" y="3492500"/>
            <a:ext cx="889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Design, Modules &amp; Scheduler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2000" y="38862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2000" y="40894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51000" y="41529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51000" y="4533900"/>
            <a:ext cx="889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Model Training &amp; Performance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2000" y="49276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2000" y="51308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651000" y="51943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Deployment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51000" y="5575300"/>
            <a:ext cx="889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ML, System Output &amp; Future Work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2000" y="5969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2000" y="61722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651000" y="62357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51000" y="6616700"/>
            <a:ext cx="889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Takeaways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2000" y="70104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Project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Overview: IoT-ML Environmental Monitoring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8000" y="1041400"/>
            <a:ext cx="7366000" cy="3429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8000" y="1041400"/>
            <a:ext cx="1397000" cy="3556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8000" y="10414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1200" y="154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68400" y="1549400"/>
            <a:ext cx="650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1200" y="2006600"/>
            <a:ext cx="695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is a major health concern. Real-time PM2.5 monitoring enables early warnings and data-driven decisions.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</a:t>
            </a:r>
            <a:r>
              <a:rPr lang="en-US" sz="16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embedded solution</a:t>
            </a: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IoT sensing and ML prediction.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1041400"/>
            <a:ext cx="7366000" cy="3429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82000" y="1041400"/>
            <a:ext cx="1397000" cy="355600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82000" y="10414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85200" y="154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0800" y="22225"/>
                </a:moveTo>
                <a:cubicBezTo>
                  <a:pt x="50800" y="9932"/>
                  <a:pt x="39449" y="0"/>
                  <a:pt x="25400" y="0"/>
                </a:cubicBezTo>
                <a:cubicBezTo>
                  <a:pt x="11351" y="0"/>
                  <a:pt x="0" y="9932"/>
                  <a:pt x="0" y="22225"/>
                </a:cubicBezTo>
                <a:lnTo>
                  <a:pt x="0" y="333375"/>
                </a:lnTo>
                <a:cubicBezTo>
                  <a:pt x="0" y="345668"/>
                  <a:pt x="11351" y="355600"/>
                  <a:pt x="25400" y="355600"/>
                </a:cubicBezTo>
                <a:cubicBezTo>
                  <a:pt x="39449" y="355600"/>
                  <a:pt x="50800" y="345668"/>
                  <a:pt x="50800" y="333375"/>
                </a:cubicBezTo>
                <a:lnTo>
                  <a:pt x="50800" y="248920"/>
                </a:lnTo>
                <a:lnTo>
                  <a:pt x="100568" y="235863"/>
                </a:lnTo>
                <a:cubicBezTo>
                  <a:pt x="133826" y="227112"/>
                  <a:pt x="169704" y="229820"/>
                  <a:pt x="200739" y="243433"/>
                </a:cubicBezTo>
                <a:cubicBezTo>
                  <a:pt x="234633" y="258296"/>
                  <a:pt x="274161" y="260102"/>
                  <a:pt x="309642" y="248434"/>
                </a:cubicBezTo>
                <a:lnTo>
                  <a:pt x="339090" y="238780"/>
                </a:lnTo>
                <a:cubicBezTo>
                  <a:pt x="349012" y="235516"/>
                  <a:pt x="355600" y="227251"/>
                  <a:pt x="355600" y="217944"/>
                </a:cubicBezTo>
                <a:lnTo>
                  <a:pt x="355600" y="45909"/>
                </a:lnTo>
                <a:cubicBezTo>
                  <a:pt x="355600" y="29934"/>
                  <a:pt x="336391" y="19516"/>
                  <a:pt x="320040" y="26670"/>
                </a:cubicBezTo>
                <a:lnTo>
                  <a:pt x="310674" y="30768"/>
                </a:lnTo>
                <a:cubicBezTo>
                  <a:pt x="275034" y="46395"/>
                  <a:pt x="233045" y="46395"/>
                  <a:pt x="197326" y="30768"/>
                </a:cubicBezTo>
                <a:cubicBezTo>
                  <a:pt x="168434" y="18127"/>
                  <a:pt x="135176" y="15627"/>
                  <a:pt x="104299" y="23753"/>
                </a:cubicBezTo>
                <a:lnTo>
                  <a:pt x="50800" y="37783"/>
                </a:lnTo>
                <a:lnTo>
                  <a:pt x="50800" y="22225"/>
                </a:lnTo>
                <a:close/>
              </a:path>
            </a:pathLst>
          </a:cu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42400" y="1549400"/>
            <a:ext cx="650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85200" y="2006600"/>
            <a:ext cx="695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a modular embedded system on STM32 platform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Acquire and filter environmental sensor data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Calculate Air Quality Index (AQI) in real-time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 future PM2.5 using ML on the edge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 all data through UART interface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8000" y="4724400"/>
            <a:ext cx="7366000" cy="3429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8000" y="4724400"/>
            <a:ext cx="1397000" cy="35560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8000" y="47244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1200" y="5232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1084" y="146199"/>
                </a:moveTo>
                <a:cubicBezTo>
                  <a:pt x="237863" y="143907"/>
                  <a:pt x="244975" y="147935"/>
                  <a:pt x="248031" y="155783"/>
                </a:cubicBezTo>
                <a:lnTo>
                  <a:pt x="258366" y="181898"/>
                </a:lnTo>
                <a:cubicBezTo>
                  <a:pt x="264089" y="182870"/>
                  <a:pt x="269700" y="184815"/>
                  <a:pt x="274979" y="187523"/>
                </a:cubicBezTo>
                <a:lnTo>
                  <a:pt x="294426" y="171341"/>
                </a:lnTo>
                <a:cubicBezTo>
                  <a:pt x="300260" y="166479"/>
                  <a:pt x="307983" y="167451"/>
                  <a:pt x="312928" y="173633"/>
                </a:cubicBezTo>
                <a:lnTo>
                  <a:pt x="323596" y="186968"/>
                </a:lnTo>
                <a:cubicBezTo>
                  <a:pt x="328541" y="193149"/>
                  <a:pt x="329319" y="202873"/>
                  <a:pt x="325430" y="210096"/>
                </a:cubicBezTo>
                <a:lnTo>
                  <a:pt x="312483" y="234335"/>
                </a:lnTo>
                <a:cubicBezTo>
                  <a:pt x="313539" y="237599"/>
                  <a:pt x="314484" y="241002"/>
                  <a:pt x="315262" y="244544"/>
                </a:cubicBezTo>
                <a:cubicBezTo>
                  <a:pt x="316039" y="248087"/>
                  <a:pt x="316540" y="251559"/>
                  <a:pt x="316928" y="255101"/>
                </a:cubicBezTo>
                <a:lnTo>
                  <a:pt x="337876" y="268020"/>
                </a:lnTo>
                <a:cubicBezTo>
                  <a:pt x="344154" y="271909"/>
                  <a:pt x="347377" y="280799"/>
                  <a:pt x="345543" y="289203"/>
                </a:cubicBezTo>
                <a:lnTo>
                  <a:pt x="341654" y="307400"/>
                </a:lnTo>
                <a:cubicBezTo>
                  <a:pt x="339820" y="315803"/>
                  <a:pt x="333542" y="321499"/>
                  <a:pt x="326541" y="320943"/>
                </a:cubicBezTo>
                <a:lnTo>
                  <a:pt x="303205" y="319068"/>
                </a:lnTo>
                <a:cubicBezTo>
                  <a:pt x="299704" y="324693"/>
                  <a:pt x="295648" y="329902"/>
                  <a:pt x="291036" y="334347"/>
                </a:cubicBezTo>
                <a:lnTo>
                  <a:pt x="292537" y="363448"/>
                </a:lnTo>
                <a:cubicBezTo>
                  <a:pt x="292981" y="372199"/>
                  <a:pt x="288425" y="380117"/>
                  <a:pt x="281702" y="382339"/>
                </a:cubicBezTo>
                <a:lnTo>
                  <a:pt x="267145" y="387201"/>
                </a:lnTo>
                <a:cubicBezTo>
                  <a:pt x="260366" y="389493"/>
                  <a:pt x="253309" y="385465"/>
                  <a:pt x="250198" y="377617"/>
                </a:cubicBezTo>
                <a:lnTo>
                  <a:pt x="239863" y="351502"/>
                </a:lnTo>
                <a:cubicBezTo>
                  <a:pt x="234140" y="350530"/>
                  <a:pt x="228529" y="348585"/>
                  <a:pt x="223250" y="345877"/>
                </a:cubicBezTo>
                <a:lnTo>
                  <a:pt x="203803" y="362059"/>
                </a:lnTo>
                <a:cubicBezTo>
                  <a:pt x="197969" y="366921"/>
                  <a:pt x="190246" y="365949"/>
                  <a:pt x="185301" y="359767"/>
                </a:cubicBezTo>
                <a:lnTo>
                  <a:pt x="174633" y="346432"/>
                </a:lnTo>
                <a:cubicBezTo>
                  <a:pt x="169688" y="340251"/>
                  <a:pt x="168910" y="330597"/>
                  <a:pt x="172799" y="323304"/>
                </a:cubicBezTo>
                <a:lnTo>
                  <a:pt x="185745" y="298996"/>
                </a:lnTo>
                <a:cubicBezTo>
                  <a:pt x="184690" y="295731"/>
                  <a:pt x="183745" y="292328"/>
                  <a:pt x="182967" y="288786"/>
                </a:cubicBezTo>
                <a:cubicBezTo>
                  <a:pt x="182189" y="285244"/>
                  <a:pt x="181689" y="281702"/>
                  <a:pt x="181300" y="278229"/>
                </a:cubicBezTo>
                <a:lnTo>
                  <a:pt x="160353" y="265311"/>
                </a:lnTo>
                <a:cubicBezTo>
                  <a:pt x="154075" y="261422"/>
                  <a:pt x="150908" y="252532"/>
                  <a:pt x="152686" y="244128"/>
                </a:cubicBezTo>
                <a:lnTo>
                  <a:pt x="156575" y="225931"/>
                </a:lnTo>
                <a:cubicBezTo>
                  <a:pt x="158409" y="217527"/>
                  <a:pt x="164687" y="211832"/>
                  <a:pt x="171688" y="212388"/>
                </a:cubicBezTo>
                <a:lnTo>
                  <a:pt x="194969" y="214263"/>
                </a:lnTo>
                <a:cubicBezTo>
                  <a:pt x="198469" y="208637"/>
                  <a:pt x="202525" y="203428"/>
                  <a:pt x="207137" y="198983"/>
                </a:cubicBezTo>
                <a:lnTo>
                  <a:pt x="205637" y="169952"/>
                </a:lnTo>
                <a:cubicBezTo>
                  <a:pt x="205192" y="161201"/>
                  <a:pt x="209748" y="153283"/>
                  <a:pt x="216471" y="151061"/>
                </a:cubicBezTo>
                <a:lnTo>
                  <a:pt x="231029" y="146199"/>
                </a:lnTo>
                <a:close/>
                <a:moveTo>
                  <a:pt x="249142" y="236141"/>
                </a:moveTo>
                <a:cubicBezTo>
                  <a:pt x="235649" y="236160"/>
                  <a:pt x="224707" y="249869"/>
                  <a:pt x="224723" y="266735"/>
                </a:cubicBezTo>
                <a:cubicBezTo>
                  <a:pt x="224738" y="283601"/>
                  <a:pt x="235705" y="297279"/>
                  <a:pt x="249198" y="297259"/>
                </a:cubicBezTo>
                <a:cubicBezTo>
                  <a:pt x="262691" y="297240"/>
                  <a:pt x="273633" y="283531"/>
                  <a:pt x="273618" y="266665"/>
                </a:cubicBezTo>
                <a:cubicBezTo>
                  <a:pt x="273602" y="249799"/>
                  <a:pt x="262635" y="236121"/>
                  <a:pt x="249142" y="236141"/>
                </a:cubicBezTo>
                <a:close/>
                <a:moveTo>
                  <a:pt x="124960" y="-31601"/>
                </a:moveTo>
                <a:lnTo>
                  <a:pt x="139517" y="-26739"/>
                </a:lnTo>
                <a:cubicBezTo>
                  <a:pt x="146241" y="-24448"/>
                  <a:pt x="150797" y="-16530"/>
                  <a:pt x="150352" y="-7848"/>
                </a:cubicBezTo>
                <a:lnTo>
                  <a:pt x="148852" y="21183"/>
                </a:lnTo>
                <a:cubicBezTo>
                  <a:pt x="153464" y="25628"/>
                  <a:pt x="157520" y="30768"/>
                  <a:pt x="161020" y="36463"/>
                </a:cubicBezTo>
                <a:lnTo>
                  <a:pt x="184356" y="34588"/>
                </a:lnTo>
                <a:cubicBezTo>
                  <a:pt x="191302" y="34032"/>
                  <a:pt x="197636" y="39727"/>
                  <a:pt x="199469" y="48131"/>
                </a:cubicBezTo>
                <a:lnTo>
                  <a:pt x="203359" y="66328"/>
                </a:lnTo>
                <a:cubicBezTo>
                  <a:pt x="205137" y="74732"/>
                  <a:pt x="201970" y="83622"/>
                  <a:pt x="195691" y="87511"/>
                </a:cubicBezTo>
                <a:lnTo>
                  <a:pt x="174744" y="100429"/>
                </a:lnTo>
                <a:cubicBezTo>
                  <a:pt x="174355" y="103971"/>
                  <a:pt x="173800" y="107513"/>
                  <a:pt x="173077" y="110986"/>
                </a:cubicBezTo>
                <a:cubicBezTo>
                  <a:pt x="172355" y="114459"/>
                  <a:pt x="171355" y="117931"/>
                  <a:pt x="170299" y="121196"/>
                </a:cubicBezTo>
                <a:lnTo>
                  <a:pt x="183245" y="145504"/>
                </a:lnTo>
                <a:cubicBezTo>
                  <a:pt x="187135" y="152797"/>
                  <a:pt x="186357" y="162451"/>
                  <a:pt x="181412" y="168632"/>
                </a:cubicBezTo>
                <a:lnTo>
                  <a:pt x="170744" y="181967"/>
                </a:lnTo>
                <a:cubicBezTo>
                  <a:pt x="165799" y="188149"/>
                  <a:pt x="158075" y="189121"/>
                  <a:pt x="152241" y="184259"/>
                </a:cubicBezTo>
                <a:lnTo>
                  <a:pt x="132794" y="168077"/>
                </a:lnTo>
                <a:cubicBezTo>
                  <a:pt x="127516" y="170785"/>
                  <a:pt x="121904" y="172730"/>
                  <a:pt x="116181" y="173702"/>
                </a:cubicBezTo>
                <a:lnTo>
                  <a:pt x="105847" y="199817"/>
                </a:lnTo>
                <a:cubicBezTo>
                  <a:pt x="102735" y="207665"/>
                  <a:pt x="95623" y="211624"/>
                  <a:pt x="88900" y="209401"/>
                </a:cubicBezTo>
                <a:lnTo>
                  <a:pt x="74343" y="204539"/>
                </a:lnTo>
                <a:cubicBezTo>
                  <a:pt x="67564" y="202248"/>
                  <a:pt x="63063" y="194330"/>
                  <a:pt x="63508" y="185648"/>
                </a:cubicBezTo>
                <a:lnTo>
                  <a:pt x="65008" y="156547"/>
                </a:lnTo>
                <a:cubicBezTo>
                  <a:pt x="60396" y="152102"/>
                  <a:pt x="56340" y="146963"/>
                  <a:pt x="52840" y="141268"/>
                </a:cubicBezTo>
                <a:lnTo>
                  <a:pt x="29504" y="143143"/>
                </a:lnTo>
                <a:cubicBezTo>
                  <a:pt x="22558" y="143699"/>
                  <a:pt x="16224" y="138003"/>
                  <a:pt x="14391" y="129600"/>
                </a:cubicBezTo>
                <a:lnTo>
                  <a:pt x="10501" y="111403"/>
                </a:lnTo>
                <a:cubicBezTo>
                  <a:pt x="8723" y="102999"/>
                  <a:pt x="11890" y="94109"/>
                  <a:pt x="18169" y="90220"/>
                </a:cubicBezTo>
                <a:lnTo>
                  <a:pt x="39116" y="77301"/>
                </a:lnTo>
                <a:cubicBezTo>
                  <a:pt x="39505" y="73759"/>
                  <a:pt x="40061" y="70287"/>
                  <a:pt x="40783" y="66744"/>
                </a:cubicBezTo>
                <a:cubicBezTo>
                  <a:pt x="41561" y="63202"/>
                  <a:pt x="42450" y="59799"/>
                  <a:pt x="43561" y="56535"/>
                </a:cubicBezTo>
                <a:lnTo>
                  <a:pt x="30615" y="32296"/>
                </a:lnTo>
                <a:cubicBezTo>
                  <a:pt x="26726" y="25003"/>
                  <a:pt x="27503" y="15349"/>
                  <a:pt x="32448" y="9168"/>
                </a:cubicBezTo>
                <a:lnTo>
                  <a:pt x="43116" y="-4167"/>
                </a:lnTo>
                <a:cubicBezTo>
                  <a:pt x="48062" y="-10349"/>
                  <a:pt x="55785" y="-11321"/>
                  <a:pt x="61619" y="-6459"/>
                </a:cubicBezTo>
                <a:lnTo>
                  <a:pt x="81066" y="9723"/>
                </a:lnTo>
                <a:cubicBezTo>
                  <a:pt x="86344" y="7015"/>
                  <a:pt x="91956" y="5070"/>
                  <a:pt x="97679" y="4098"/>
                </a:cubicBezTo>
                <a:lnTo>
                  <a:pt x="108013" y="-22017"/>
                </a:lnTo>
                <a:cubicBezTo>
                  <a:pt x="111125" y="-29865"/>
                  <a:pt x="118181" y="-33824"/>
                  <a:pt x="124960" y="-31601"/>
                </a:cubicBezTo>
                <a:close/>
                <a:moveTo>
                  <a:pt x="106902" y="58341"/>
                </a:moveTo>
                <a:cubicBezTo>
                  <a:pt x="93409" y="58341"/>
                  <a:pt x="82455" y="72034"/>
                  <a:pt x="82455" y="88900"/>
                </a:cubicBezTo>
                <a:cubicBezTo>
                  <a:pt x="82455" y="105766"/>
                  <a:pt x="93409" y="119459"/>
                  <a:pt x="106902" y="119459"/>
                </a:cubicBezTo>
                <a:cubicBezTo>
                  <a:pt x="120395" y="119459"/>
                  <a:pt x="131350" y="105766"/>
                  <a:pt x="131350" y="88900"/>
                </a:cubicBezTo>
                <a:cubicBezTo>
                  <a:pt x="131350" y="72034"/>
                  <a:pt x="120395" y="58341"/>
                  <a:pt x="106902" y="58341"/>
                </a:cubicBezTo>
                <a:close/>
              </a:path>
            </a:pathLst>
          </a:cu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68400" y="5232400"/>
            <a:ext cx="650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1200" y="5689600"/>
            <a:ext cx="695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Multi-sensor data acquisition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Digital PM2.5 filtering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AQI calculation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Lightweight ML prediction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Hazardous air quality alarm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UART data logging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382000" y="4724400"/>
            <a:ext cx="7366000" cy="3429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82000" y="4724400"/>
            <a:ext cx="1397000" cy="355600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82000" y="47244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85200" y="5232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455A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042400" y="5232400"/>
            <a:ext cx="650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Hardware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585200" y="5689600"/>
            <a:ext cx="695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MCU:</a:t>
            </a: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STM32F03C8T6 ARM Cortex-M3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</a:t>
            </a: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STM32 HAL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</a:t>
            </a: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Keil MDK (uVision 5) + STM32CubeMX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</a:t>
            </a: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 (Embedded Firmware), Python (Machine Learning)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</a:t>
            </a: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Scikit-learn + Jupyter Notebook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</a:t>
            </a: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UART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System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Software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8000" y="990600"/>
            <a:ext cx="152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pipeline design — all modules communicate through a shared system data structure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88000" y="1498600"/>
            <a:ext cx="5080000" cy="6604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65800" y="1625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135890" y="0"/>
                  <a:pt x="81280" y="34131"/>
                  <a:pt x="81280" y="76200"/>
                </a:cubicBezTo>
                <a:lnTo>
                  <a:pt x="81280" y="206931"/>
                </a:lnTo>
                <a:cubicBezTo>
                  <a:pt x="43815" y="227806"/>
                  <a:pt x="20320" y="258286"/>
                  <a:pt x="20320" y="292100"/>
                </a:cubicBezTo>
                <a:cubicBezTo>
                  <a:pt x="20320" y="355203"/>
                  <a:pt x="102235" y="406400"/>
                  <a:pt x="203200" y="406400"/>
                </a:cubicBezTo>
                <a:cubicBezTo>
                  <a:pt x="304165" y="406400"/>
                  <a:pt x="386080" y="355203"/>
                  <a:pt x="386080" y="292100"/>
                </a:cubicBezTo>
                <a:cubicBezTo>
                  <a:pt x="386080" y="258286"/>
                  <a:pt x="362585" y="227806"/>
                  <a:pt x="325120" y="206931"/>
                </a:cubicBezTo>
                <a:lnTo>
                  <a:pt x="325120" y="76200"/>
                </a:lnTo>
                <a:cubicBezTo>
                  <a:pt x="325120" y="34131"/>
                  <a:pt x="270510" y="0"/>
                  <a:pt x="203200" y="0"/>
                </a:cubicBezTo>
                <a:close/>
                <a:moveTo>
                  <a:pt x="284480" y="292100"/>
                </a:moveTo>
                <a:cubicBezTo>
                  <a:pt x="284480" y="320119"/>
                  <a:pt x="248031" y="342900"/>
                  <a:pt x="203200" y="342900"/>
                </a:cubicBezTo>
                <a:cubicBezTo>
                  <a:pt x="158369" y="342900"/>
                  <a:pt x="121920" y="320119"/>
                  <a:pt x="121920" y="292100"/>
                </a:cubicBezTo>
                <a:cubicBezTo>
                  <a:pt x="121920" y="270748"/>
                  <a:pt x="142875" y="252492"/>
                  <a:pt x="172720" y="245031"/>
                </a:cubicBezTo>
                <a:lnTo>
                  <a:pt x="172720" y="171450"/>
                </a:lnTo>
                <a:cubicBezTo>
                  <a:pt x="172720" y="160893"/>
                  <a:pt x="186309" y="152400"/>
                  <a:pt x="203200" y="152400"/>
                </a:cubicBezTo>
                <a:cubicBezTo>
                  <a:pt x="220091" y="152400"/>
                  <a:pt x="233680" y="160893"/>
                  <a:pt x="233680" y="171450"/>
                </a:cubicBezTo>
                <a:lnTo>
                  <a:pt x="233680" y="245031"/>
                </a:lnTo>
                <a:cubicBezTo>
                  <a:pt x="263525" y="252571"/>
                  <a:pt x="284480" y="270828"/>
                  <a:pt x="284480" y="2921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73800" y="1498600"/>
            <a:ext cx="4191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Sensor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01000" y="2159000"/>
            <a:ext cx="254000" cy="3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588000" y="2514600"/>
            <a:ext cx="5080000" cy="660400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65800" y="2641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50800"/>
                </a:moveTo>
                <a:cubicBezTo>
                  <a:pt x="15161" y="50800"/>
                  <a:pt x="5874" y="56991"/>
                  <a:pt x="1905" y="66516"/>
                </a:cubicBezTo>
                <a:cubicBezTo>
                  <a:pt x="-2064" y="76041"/>
                  <a:pt x="159" y="86916"/>
                  <a:pt x="7461" y="94139"/>
                </a:cubicBezTo>
                <a:lnTo>
                  <a:pt x="152400" y="239157"/>
                </a:lnTo>
                <a:lnTo>
                  <a:pt x="152400" y="330200"/>
                </a:lnTo>
                <a:cubicBezTo>
                  <a:pt x="152400" y="336947"/>
                  <a:pt x="155099" y="343376"/>
                  <a:pt x="159861" y="348139"/>
                </a:cubicBezTo>
                <a:lnTo>
                  <a:pt x="210661" y="398939"/>
                </a:lnTo>
                <a:cubicBezTo>
                  <a:pt x="217964" y="406241"/>
                  <a:pt x="228838" y="408384"/>
                  <a:pt x="238363" y="404416"/>
                </a:cubicBezTo>
                <a:cubicBezTo>
                  <a:pt x="247888" y="400447"/>
                  <a:pt x="254000" y="391239"/>
                  <a:pt x="254000" y="381000"/>
                </a:cubicBezTo>
                <a:lnTo>
                  <a:pt x="254000" y="239157"/>
                </a:lnTo>
                <a:lnTo>
                  <a:pt x="398939" y="94218"/>
                </a:lnTo>
                <a:cubicBezTo>
                  <a:pt x="406241" y="86916"/>
                  <a:pt x="408384" y="76041"/>
                  <a:pt x="404416" y="66516"/>
                </a:cubicBezTo>
                <a:cubicBezTo>
                  <a:pt x="400447" y="56991"/>
                  <a:pt x="391239" y="50800"/>
                  <a:pt x="381000" y="50800"/>
                </a:cubicBezTo>
                <a:lnTo>
                  <a:pt x="25400" y="508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3800" y="2514600"/>
            <a:ext cx="4191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Moving Average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01000" y="3175000"/>
            <a:ext cx="254000" cy="3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88000" y="3530600"/>
            <a:ext cx="5080000" cy="6604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65800" y="3657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8600" y="25400"/>
                </a:moveTo>
                <a:cubicBezTo>
                  <a:pt x="228600" y="39449"/>
                  <a:pt x="239951" y="50800"/>
                  <a:pt x="254000" y="50800"/>
                </a:cubicBezTo>
                <a:lnTo>
                  <a:pt x="285750" y="50800"/>
                </a:lnTo>
                <a:cubicBezTo>
                  <a:pt x="296307" y="50800"/>
                  <a:pt x="304800" y="59293"/>
                  <a:pt x="304800" y="69850"/>
                </a:cubicBezTo>
                <a:cubicBezTo>
                  <a:pt x="304800" y="80407"/>
                  <a:pt x="296307" y="88900"/>
                  <a:pt x="285750" y="88900"/>
                </a:cubicBezTo>
                <a:lnTo>
                  <a:pt x="25400" y="88900"/>
                </a:lnTo>
                <a:cubicBezTo>
                  <a:pt x="11351" y="88900"/>
                  <a:pt x="0" y="100251"/>
                  <a:pt x="0" y="114300"/>
                </a:cubicBezTo>
                <a:cubicBezTo>
                  <a:pt x="0" y="128349"/>
                  <a:pt x="11351" y="139700"/>
                  <a:pt x="25400" y="139700"/>
                </a:cubicBezTo>
                <a:lnTo>
                  <a:pt x="285750" y="139700"/>
                </a:lnTo>
                <a:cubicBezTo>
                  <a:pt x="324326" y="139700"/>
                  <a:pt x="355600" y="108426"/>
                  <a:pt x="355600" y="69850"/>
                </a:cubicBezTo>
                <a:cubicBezTo>
                  <a:pt x="355600" y="31274"/>
                  <a:pt x="324326" y="0"/>
                  <a:pt x="285750" y="0"/>
                </a:cubicBezTo>
                <a:lnTo>
                  <a:pt x="254000" y="0"/>
                </a:lnTo>
                <a:cubicBezTo>
                  <a:pt x="239951" y="0"/>
                  <a:pt x="228600" y="11351"/>
                  <a:pt x="228600" y="25400"/>
                </a:cubicBezTo>
                <a:close/>
                <a:moveTo>
                  <a:pt x="279400" y="304800"/>
                </a:moveTo>
                <a:cubicBezTo>
                  <a:pt x="279400" y="318849"/>
                  <a:pt x="290751" y="330200"/>
                  <a:pt x="304800" y="330200"/>
                </a:cubicBezTo>
                <a:lnTo>
                  <a:pt x="330200" y="330200"/>
                </a:lnTo>
                <a:cubicBezTo>
                  <a:pt x="372269" y="330200"/>
                  <a:pt x="406400" y="296069"/>
                  <a:pt x="406400" y="254000"/>
                </a:cubicBezTo>
                <a:cubicBezTo>
                  <a:pt x="406400" y="211931"/>
                  <a:pt x="372269" y="177800"/>
                  <a:pt x="330200" y="177800"/>
                </a:cubicBezTo>
                <a:lnTo>
                  <a:pt x="25400" y="177800"/>
                </a:lnTo>
                <a:cubicBezTo>
                  <a:pt x="11351" y="177800"/>
                  <a:pt x="0" y="189151"/>
                  <a:pt x="0" y="203200"/>
                </a:cubicBezTo>
                <a:cubicBezTo>
                  <a:pt x="0" y="217249"/>
                  <a:pt x="11351" y="228600"/>
                  <a:pt x="25400" y="228600"/>
                </a:cubicBezTo>
                <a:lnTo>
                  <a:pt x="330200" y="228600"/>
                </a:lnTo>
                <a:cubicBezTo>
                  <a:pt x="344249" y="228600"/>
                  <a:pt x="355600" y="239951"/>
                  <a:pt x="355600" y="254000"/>
                </a:cubicBezTo>
                <a:cubicBezTo>
                  <a:pt x="355600" y="268049"/>
                  <a:pt x="344249" y="279400"/>
                  <a:pt x="330200" y="279400"/>
                </a:cubicBezTo>
                <a:lnTo>
                  <a:pt x="304800" y="279400"/>
                </a:lnTo>
                <a:cubicBezTo>
                  <a:pt x="290751" y="279400"/>
                  <a:pt x="279400" y="290751"/>
                  <a:pt x="279400" y="304800"/>
                </a:cubicBezTo>
                <a:close/>
                <a:moveTo>
                  <a:pt x="101600" y="406400"/>
                </a:moveTo>
                <a:lnTo>
                  <a:pt x="133350" y="406400"/>
                </a:lnTo>
                <a:cubicBezTo>
                  <a:pt x="171926" y="406400"/>
                  <a:pt x="203200" y="375126"/>
                  <a:pt x="203200" y="336550"/>
                </a:cubicBezTo>
                <a:cubicBezTo>
                  <a:pt x="203200" y="297974"/>
                  <a:pt x="171926" y="266700"/>
                  <a:pt x="133350" y="266700"/>
                </a:cubicBezTo>
                <a:lnTo>
                  <a:pt x="25400" y="266700"/>
                </a:lnTo>
                <a:cubicBezTo>
                  <a:pt x="11351" y="266700"/>
                  <a:pt x="0" y="278051"/>
                  <a:pt x="0" y="292100"/>
                </a:cubicBezTo>
                <a:cubicBezTo>
                  <a:pt x="0" y="306149"/>
                  <a:pt x="11351" y="317500"/>
                  <a:pt x="25400" y="317500"/>
                </a:cubicBezTo>
                <a:lnTo>
                  <a:pt x="133350" y="317500"/>
                </a:lnTo>
                <a:cubicBezTo>
                  <a:pt x="143907" y="317500"/>
                  <a:pt x="152400" y="325993"/>
                  <a:pt x="152400" y="336550"/>
                </a:cubicBezTo>
                <a:cubicBezTo>
                  <a:pt x="152400" y="347107"/>
                  <a:pt x="143907" y="355600"/>
                  <a:pt x="133350" y="355600"/>
                </a:cubicBezTo>
                <a:lnTo>
                  <a:pt x="101600" y="355600"/>
                </a:lnTo>
                <a:cubicBezTo>
                  <a:pt x="87551" y="355600"/>
                  <a:pt x="76200" y="366951"/>
                  <a:pt x="76200" y="381000"/>
                </a:cubicBezTo>
                <a:cubicBezTo>
                  <a:pt x="76200" y="395049"/>
                  <a:pt x="87551" y="406400"/>
                  <a:pt x="101600" y="4064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73800" y="3530600"/>
            <a:ext cx="4191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Calculator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Index Computation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01000" y="4191000"/>
            <a:ext cx="254000" cy="3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588000" y="4546600"/>
            <a:ext cx="5080000" cy="6604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65800" y="4673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73800" y="4546600"/>
            <a:ext cx="4191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(ML)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Linear Regression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01000" y="5207000"/>
            <a:ext cx="254000" cy="3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88000" y="5562600"/>
            <a:ext cx="5080000" cy="660400"/>
          </a:xfrm>
          <a:prstGeom prst="roundRect">
            <a:avLst>
              <a:gd name="adj" fmla="val 4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765800" y="568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187144" y="0"/>
                  <a:pt x="174171" y="11351"/>
                  <a:pt x="174171" y="25400"/>
                </a:cubicBezTo>
                <a:lnTo>
                  <a:pt x="174171" y="27940"/>
                </a:lnTo>
                <a:cubicBezTo>
                  <a:pt x="107950" y="39688"/>
                  <a:pt x="58057" y="90964"/>
                  <a:pt x="58057" y="152400"/>
                </a:cubicBezTo>
                <a:lnTo>
                  <a:pt x="58057" y="169624"/>
                </a:lnTo>
                <a:cubicBezTo>
                  <a:pt x="58057" y="207804"/>
                  <a:pt x="43180" y="244872"/>
                  <a:pt x="15966" y="274717"/>
                </a:cubicBezTo>
                <a:lnTo>
                  <a:pt x="7076" y="284401"/>
                </a:lnTo>
                <a:cubicBezTo>
                  <a:pt x="2449" y="289401"/>
                  <a:pt x="0" y="295592"/>
                  <a:pt x="0" y="302022"/>
                </a:cubicBezTo>
                <a:cubicBezTo>
                  <a:pt x="0" y="317579"/>
                  <a:pt x="14424" y="330200"/>
                  <a:pt x="32204" y="330200"/>
                </a:cubicBezTo>
                <a:lnTo>
                  <a:pt x="374106" y="330200"/>
                </a:lnTo>
                <a:cubicBezTo>
                  <a:pt x="391886" y="330200"/>
                  <a:pt x="406309" y="317579"/>
                  <a:pt x="406309" y="302022"/>
                </a:cubicBezTo>
                <a:cubicBezTo>
                  <a:pt x="406309" y="295592"/>
                  <a:pt x="403860" y="289401"/>
                  <a:pt x="399234" y="284401"/>
                </a:cubicBezTo>
                <a:lnTo>
                  <a:pt x="390344" y="274717"/>
                </a:lnTo>
                <a:cubicBezTo>
                  <a:pt x="363220" y="244872"/>
                  <a:pt x="348343" y="207804"/>
                  <a:pt x="348343" y="169624"/>
                </a:cubicBezTo>
                <a:lnTo>
                  <a:pt x="348343" y="152400"/>
                </a:lnTo>
                <a:cubicBezTo>
                  <a:pt x="348343" y="90964"/>
                  <a:pt x="298450" y="39688"/>
                  <a:pt x="232229" y="27940"/>
                </a:cubicBezTo>
                <a:lnTo>
                  <a:pt x="232229" y="25400"/>
                </a:lnTo>
                <a:cubicBezTo>
                  <a:pt x="232229" y="11351"/>
                  <a:pt x="219256" y="0"/>
                  <a:pt x="203200" y="0"/>
                </a:cubicBezTo>
                <a:close/>
                <a:moveTo>
                  <a:pt x="146957" y="368300"/>
                </a:moveTo>
                <a:cubicBezTo>
                  <a:pt x="153398" y="390208"/>
                  <a:pt x="176167" y="406400"/>
                  <a:pt x="203200" y="406400"/>
                </a:cubicBezTo>
                <a:cubicBezTo>
                  <a:pt x="230233" y="406400"/>
                  <a:pt x="253002" y="390208"/>
                  <a:pt x="259443" y="368300"/>
                </a:cubicBezTo>
                <a:lnTo>
                  <a:pt x="146957" y="3683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73800" y="5562600"/>
            <a:ext cx="4191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Manager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Hazard Detection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01000" y="6223000"/>
            <a:ext cx="254000" cy="3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588000" y="6578600"/>
            <a:ext cx="5080000" cy="660400"/>
          </a:xfrm>
          <a:prstGeom prst="roundRect">
            <a:avLst>
              <a:gd name="adj" fmla="val 4000"/>
            </a:avLst>
          </a:prstGeom>
          <a:solidFill>
            <a:srgbClr val="455A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65800" y="6705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461" y="94139"/>
                </a:moveTo>
                <a:cubicBezTo>
                  <a:pt x="-2461" y="84217"/>
                  <a:pt x="-2461" y="68104"/>
                  <a:pt x="7461" y="58182"/>
                </a:cubicBezTo>
                <a:cubicBezTo>
                  <a:pt x="17383" y="48260"/>
                  <a:pt x="33496" y="48260"/>
                  <a:pt x="43418" y="58182"/>
                </a:cubicBezTo>
                <a:lnTo>
                  <a:pt x="170418" y="185182"/>
                </a:lnTo>
                <a:cubicBezTo>
                  <a:pt x="180340" y="195104"/>
                  <a:pt x="180340" y="211217"/>
                  <a:pt x="170418" y="221139"/>
                </a:cubicBezTo>
                <a:lnTo>
                  <a:pt x="43418" y="348139"/>
                </a:lnTo>
                <a:cubicBezTo>
                  <a:pt x="33496" y="358061"/>
                  <a:pt x="17383" y="358061"/>
                  <a:pt x="7461" y="348139"/>
                </a:cubicBezTo>
                <a:cubicBezTo>
                  <a:pt x="-2461" y="338217"/>
                  <a:pt x="-2461" y="322104"/>
                  <a:pt x="7461" y="312182"/>
                </a:cubicBezTo>
                <a:lnTo>
                  <a:pt x="116443" y="203200"/>
                </a:lnTo>
                <a:lnTo>
                  <a:pt x="7461" y="94139"/>
                </a:lnTo>
                <a:close/>
                <a:moveTo>
                  <a:pt x="177800" y="304800"/>
                </a:moveTo>
                <a:lnTo>
                  <a:pt x="381000" y="304800"/>
                </a:lnTo>
                <a:cubicBezTo>
                  <a:pt x="395049" y="304800"/>
                  <a:pt x="406400" y="316151"/>
                  <a:pt x="406400" y="330200"/>
                </a:cubicBezTo>
                <a:cubicBezTo>
                  <a:pt x="406400" y="344249"/>
                  <a:pt x="395049" y="355600"/>
                  <a:pt x="381000" y="355600"/>
                </a:cubicBezTo>
                <a:lnTo>
                  <a:pt x="177800" y="355600"/>
                </a:lnTo>
                <a:cubicBezTo>
                  <a:pt x="163751" y="355600"/>
                  <a:pt x="152400" y="344249"/>
                  <a:pt x="152400" y="330200"/>
                </a:cubicBezTo>
                <a:cubicBezTo>
                  <a:pt x="152400" y="316151"/>
                  <a:pt x="163751" y="304800"/>
                  <a:pt x="177800" y="3048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73800" y="6578600"/>
            <a:ext cx="4191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Logger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Data Reporting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8000" y="1498600"/>
            <a:ext cx="4318000" cy="57404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1200" y="1651000"/>
            <a:ext cx="3911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Structure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11200" y="2057400"/>
            <a:ext cx="39116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11200" y="2184400"/>
            <a:ext cx="3911600" cy="490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SystemData_t:</a:t>
            </a:r>
            <a:endParaRPr lang="en-US" sz="1400" dirty="0"/>
          </a:p>
          <a:p>
            <a:pPr marL="285750" indent="-2857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(float)</a:t>
            </a:r>
          </a:p>
          <a:p>
            <a:pPr marL="285750" indent="-2857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400" dirty="0"/>
          </a:p>
          <a:p>
            <a:pPr marL="285750" indent="-2857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pressure (float)</a:t>
            </a:r>
            <a:endParaRPr lang="en-US" sz="1400" dirty="0"/>
          </a:p>
          <a:p>
            <a:pPr marL="285750" indent="-2857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pm25_raw (int)</a:t>
            </a:r>
            <a:endParaRPr lang="en-US" sz="1400" dirty="0"/>
          </a:p>
          <a:p>
            <a:pPr marL="285750" indent="-2857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pm25_filtered (int)</a:t>
            </a:r>
            <a:endParaRPr lang="en-US" sz="1400" dirty="0"/>
          </a:p>
          <a:p>
            <a:pPr marL="285750" indent="-2857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aqi (int)</a:t>
            </a:r>
            <a:endParaRPr lang="en-US" sz="1400" dirty="0"/>
          </a:p>
          <a:p>
            <a:pPr marL="285750" indent="-2857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aqi_category (enum)</a:t>
            </a:r>
            <a:endParaRPr lang="en-US" sz="1400" dirty="0"/>
          </a:p>
          <a:p>
            <a:pPr marL="285750" indent="-2857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prediction (float)</a:t>
            </a:r>
            <a:endParaRPr lang="en-US" sz="1400" dirty="0"/>
          </a:p>
          <a:p>
            <a:pPr marL="285750" indent="-2857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alarm_status (bool)</a:t>
            </a:r>
          </a:p>
          <a:p>
            <a:pPr marL="285750" indent="-2857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</a:t>
            </a:r>
          </a:p>
          <a:p>
            <a:pPr marL="285750" indent="-285750" algn="l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read/write this shared structure for inter-module communication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1176000" y="1498600"/>
            <a:ext cx="4572000" cy="57404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1379200" y="1651000"/>
            <a:ext cx="416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379200" y="2057400"/>
            <a:ext cx="41656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1379200" y="2184400"/>
            <a:ext cx="4165600" cy="490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has a single, well-defined responsibility with clean interfaces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modules can be unit tested in isolation before integration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modules (Wi-Fi, LCD, SD Card) can be added without modifying existing code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scheduling ensures predictable execution order and timing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System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Modules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8000" y="9906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1. Software module responsibilities and descriptions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371600"/>
          <a:ext cx="15240000" cy="5333998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95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2C2C"/>
                          </a:solidFill>
                        </a:rPr>
                        <a:t>Scheduler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Manages execution timing and module sequencing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Uses HAL_GetTick() to call each module's Update() function in a deterministic order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95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2C2C"/>
                          </a:solidFill>
                        </a:rPr>
                        <a:t>Mock Sensor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Simulates environmental sensor readings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Generates synthetic data for temperature, pressure, and PM2.5 for system testing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95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2C2C"/>
                          </a:solidFill>
                        </a:rPr>
                        <a:t>Filter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Smooths noisy PM2.5 measurements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Applies a moving average filter to reduce sensor noise and improve signal quality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95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2C2C"/>
                          </a:solidFill>
                        </a:rPr>
                        <a:t>AQI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Calculates Air Quality Index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Converts filtered PM2.5 values to AQI using EPA standard breakpoint tables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95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2C2C"/>
                          </a:solidFill>
                        </a:rPr>
                        <a:t>Predictor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ML-based PM2.5 prediction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Performs lightweight linear regression inference to predict future PM2.5 concentration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95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2C2C"/>
                          </a:solidFill>
                        </a:rPr>
                        <a:t>Alarm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Detects hazardous conditions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Monitors AQI and predicted values; triggers alarm when thresholds are exceeded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488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2C2C"/>
                          </a:solidFill>
                        </a:rPr>
                        <a:t>Logger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System data reporting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Formats and outputs all system data through UART for monitoring and debugging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8000" y="6959600"/>
            <a:ext cx="15240000" cy="7112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62000" y="6959600"/>
            <a:ext cx="1473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r>
              <a:rPr lang="en-US" sz="15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module follows the same interface pattern — an Init() function and an Update() function — enabling easy testing, replacement, and extension of individual components.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System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88000" y="1041400"/>
            <a:ext cx="5080000" cy="558800"/>
          </a:xfrm>
          <a:prstGeom prst="roundRect">
            <a:avLst>
              <a:gd name="adj" fmla="val 4000"/>
            </a:avLst>
          </a:prstGeom>
          <a:solidFill>
            <a:srgbClr val="455A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88000" y="10414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while(1) { ... 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01000" y="1600200"/>
            <a:ext cx="254000" cy="254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88000" y="1854200"/>
            <a:ext cx="5080000" cy="5588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88000" y="18542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Scheduler_Run()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01000" y="2413000"/>
            <a:ext cx="254000" cy="254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588000" y="2667000"/>
            <a:ext cx="5080000" cy="558800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88000" y="26670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MockSensor_Update()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01000" y="3225800"/>
            <a:ext cx="254000" cy="254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88000" y="3479800"/>
            <a:ext cx="5080000" cy="558800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88000" y="34798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Filter_Update()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01000" y="4038600"/>
            <a:ext cx="254000" cy="254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588000" y="4292600"/>
            <a:ext cx="5080000" cy="5588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88000" y="42926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AQI_Update()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01000" y="4851400"/>
            <a:ext cx="254000" cy="254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588000" y="5105400"/>
            <a:ext cx="5080000" cy="5588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88000" y="51054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Predictor_Update()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01000" y="5664200"/>
            <a:ext cx="254000" cy="254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88000" y="5918200"/>
            <a:ext cx="5080000" cy="558800"/>
          </a:xfrm>
          <a:prstGeom prst="roundRect">
            <a:avLst>
              <a:gd name="adj" fmla="val 4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88000" y="59182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Alarm_Update()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01000" y="6477000"/>
            <a:ext cx="254000" cy="254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588000" y="6731000"/>
            <a:ext cx="5080000" cy="558800"/>
          </a:xfrm>
          <a:prstGeom prst="roundRect">
            <a:avLst>
              <a:gd name="adj" fmla="val 4000"/>
            </a:avLst>
          </a:prstGeom>
          <a:solidFill>
            <a:srgbClr val="455A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88000" y="67310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Logger_Report()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8000" y="1041400"/>
            <a:ext cx="4318000" cy="62484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1200" y="1193800"/>
            <a:ext cx="3911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Characteristics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11200" y="1600200"/>
            <a:ext cx="39116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11200" y="1752600"/>
            <a:ext cx="39116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Design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yield control; no preemption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HAL_GetTick()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tick for deterministic timing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RTOS Required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RTOS overhead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Order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execution sequence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176000" y="1041400"/>
            <a:ext cx="4572000" cy="6248400"/>
          </a:xfrm>
          <a:prstGeom prst="roundRect">
            <a:avLst>
              <a:gd name="adj" fmla="val 4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379200" y="1193800"/>
            <a:ext cx="416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379200" y="1600200"/>
            <a:ext cx="4165600" cy="12700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1379200" y="1752600"/>
            <a:ext cx="41656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{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System_Init();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{</a:t>
            </a: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300" dirty="0"/>
              <a:t>   </a:t>
            </a:r>
            <a:r>
              <a:rPr lang="en-US" sz="1300" dirty="0">
                <a:solidFill>
                  <a:schemeClr val="accent1"/>
                </a:solidFill>
              </a:rPr>
              <a:t>Scheduler_Run</a:t>
            </a:r>
            <a:r>
              <a:rPr lang="en-US" sz="1300" dirty="0">
                <a:solidFill>
                  <a:schemeClr val="bg2"/>
                </a:solidFill>
              </a:rPr>
              <a:t>();</a:t>
            </a:r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Scheduler_Run(</a:t>
            </a: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</a:t>
            </a:r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MockSensor_Update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();</a:t>
            </a:r>
            <a:endParaRPr lang="en-US" sz="1200" dirty="0">
              <a:solidFill>
                <a:schemeClr val="bg1"/>
              </a:solidFill>
            </a:endParaRPr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Filter_Update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();</a:t>
            </a:r>
            <a:endParaRPr lang="en-US" sz="12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AQI_Update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();</a:t>
            </a:r>
            <a:endParaRPr lang="en-US" sz="12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Predictor_Update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();</a:t>
            </a:r>
            <a:endParaRPr lang="en-US" sz="12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Alarm_Update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();</a:t>
            </a:r>
            <a:endParaRPr lang="en-US" sz="12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</a:p>
        </p:txBody>
      </p:sp>
      <p:sp>
        <p:nvSpPr>
          <p:cNvPr id="38" name="Text 36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Machine Learning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Pipeline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8000" y="990600"/>
            <a:ext cx="152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model development in Python → Embedded deployment on STM32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8000" y="1447800"/>
            <a:ext cx="2159000" cy="2540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19200" y="157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183773"/>
                </a:moveTo>
                <a:cubicBezTo>
                  <a:pt x="442096" y="192524"/>
                  <a:pt x="424747" y="199579"/>
                  <a:pt x="406683" y="205204"/>
                </a:cubicBezTo>
                <a:cubicBezTo>
                  <a:pt x="358718" y="220206"/>
                  <a:pt x="295751" y="228600"/>
                  <a:pt x="228600" y="228600"/>
                </a:cubicBezTo>
                <a:cubicBezTo>
                  <a:pt x="161449" y="228600"/>
                  <a:pt x="98380" y="220117"/>
                  <a:pt x="50517" y="205204"/>
                </a:cubicBezTo>
                <a:cubicBezTo>
                  <a:pt x="32555" y="199579"/>
                  <a:pt x="15104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102360" y="328613"/>
                  <a:pt x="228600" y="328613"/>
                </a:cubicBezTo>
                <a:cubicBezTo>
                  <a:pt x="354840" y="328613"/>
                  <a:pt x="457200" y="296644"/>
                  <a:pt x="457200" y="257175"/>
                </a:cubicBezTo>
                <a:lnTo>
                  <a:pt x="457200" y="183773"/>
                </a:lnTo>
                <a:close/>
                <a:moveTo>
                  <a:pt x="457200" y="114300"/>
                </a:moveTo>
                <a:lnTo>
                  <a:pt x="457200" y="71438"/>
                </a:lnTo>
                <a:cubicBezTo>
                  <a:pt x="457200" y="31968"/>
                  <a:pt x="354840" y="0"/>
                  <a:pt x="228600" y="0"/>
                </a:cubicBezTo>
                <a:cubicBezTo>
                  <a:pt x="102360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102360" y="185738"/>
                  <a:pt x="228600" y="185738"/>
                </a:cubicBezTo>
                <a:cubicBezTo>
                  <a:pt x="354840" y="185738"/>
                  <a:pt x="457200" y="153769"/>
                  <a:pt x="457200" y="114300"/>
                </a:cubicBezTo>
                <a:close/>
                <a:moveTo>
                  <a:pt x="406683" y="348079"/>
                </a:moveTo>
                <a:cubicBezTo>
                  <a:pt x="358820" y="362992"/>
                  <a:pt x="295853" y="371475"/>
                  <a:pt x="228600" y="371475"/>
                </a:cubicBezTo>
                <a:cubicBezTo>
                  <a:pt x="161347" y="371475"/>
                  <a:pt x="98380" y="362992"/>
                  <a:pt x="50517" y="348079"/>
                </a:cubicBezTo>
                <a:cubicBezTo>
                  <a:pt x="32555" y="342454"/>
                  <a:pt x="15104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102360" y="457200"/>
                  <a:pt x="228600" y="457200"/>
                </a:cubicBezTo>
                <a:cubicBezTo>
                  <a:pt x="354840" y="457200"/>
                  <a:pt x="457200" y="425232"/>
                  <a:pt x="457200" y="385763"/>
                </a:cubicBezTo>
                <a:lnTo>
                  <a:pt x="457200" y="326648"/>
                </a:lnTo>
                <a:cubicBezTo>
                  <a:pt x="442096" y="335399"/>
                  <a:pt x="424747" y="342454"/>
                  <a:pt x="406683" y="34807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5000" y="21082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600" y="2463800"/>
            <a:ext cx="19558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PM2.5, temperature, and pressure sensor records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68600" y="2590800"/>
            <a:ext cx="3048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75000" y="1447800"/>
            <a:ext cx="2159000" cy="2540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86200" y="157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9739" y="48756"/>
                </a:moveTo>
                <a:cubicBezTo>
                  <a:pt x="459661" y="37594"/>
                  <a:pt x="459661" y="19467"/>
                  <a:pt x="449739" y="8305"/>
                </a:cubicBezTo>
                <a:cubicBezTo>
                  <a:pt x="439817" y="-2857"/>
                  <a:pt x="423704" y="-2857"/>
                  <a:pt x="413782" y="8305"/>
                </a:cubicBezTo>
                <a:lnTo>
                  <a:pt x="261382" y="179755"/>
                </a:lnTo>
                <a:lnTo>
                  <a:pt x="233839" y="148769"/>
                </a:lnTo>
                <a:cubicBezTo>
                  <a:pt x="230505" y="145018"/>
                  <a:pt x="225901" y="142875"/>
                  <a:pt x="221139" y="142875"/>
                </a:cubicBezTo>
                <a:cubicBezTo>
                  <a:pt x="211217" y="142875"/>
                  <a:pt x="203200" y="151894"/>
                  <a:pt x="203200" y="163056"/>
                </a:cubicBezTo>
                <a:lnTo>
                  <a:pt x="203200" y="189041"/>
                </a:lnTo>
                <a:lnTo>
                  <a:pt x="289163" y="285750"/>
                </a:lnTo>
                <a:lnTo>
                  <a:pt x="312261" y="285750"/>
                </a:lnTo>
                <a:cubicBezTo>
                  <a:pt x="322183" y="285750"/>
                  <a:pt x="330200" y="276731"/>
                  <a:pt x="330200" y="265569"/>
                </a:cubicBezTo>
                <a:cubicBezTo>
                  <a:pt x="330200" y="260211"/>
                  <a:pt x="328295" y="255032"/>
                  <a:pt x="324961" y="251281"/>
                </a:cubicBezTo>
                <a:lnTo>
                  <a:pt x="297418" y="220295"/>
                </a:lnTo>
                <a:lnTo>
                  <a:pt x="449818" y="48845"/>
                </a:lnTo>
                <a:close/>
                <a:moveTo>
                  <a:pt x="270748" y="315575"/>
                </a:moveTo>
                <a:lnTo>
                  <a:pt x="176689" y="209758"/>
                </a:lnTo>
                <a:cubicBezTo>
                  <a:pt x="142796" y="206454"/>
                  <a:pt x="109061" y="220206"/>
                  <a:pt x="84773" y="247531"/>
                </a:cubicBezTo>
                <a:lnTo>
                  <a:pt x="78423" y="254675"/>
                </a:lnTo>
                <a:cubicBezTo>
                  <a:pt x="60722" y="274588"/>
                  <a:pt x="50800" y="301556"/>
                  <a:pt x="50800" y="329684"/>
                </a:cubicBezTo>
                <a:cubicBezTo>
                  <a:pt x="50800" y="335756"/>
                  <a:pt x="56436" y="339685"/>
                  <a:pt x="61278" y="337006"/>
                </a:cubicBezTo>
                <a:lnTo>
                  <a:pt x="101838" y="314236"/>
                </a:lnTo>
                <a:cubicBezTo>
                  <a:pt x="105807" y="312003"/>
                  <a:pt x="109379" y="317897"/>
                  <a:pt x="106124" y="321290"/>
                </a:cubicBezTo>
                <a:lnTo>
                  <a:pt x="5794" y="422731"/>
                </a:lnTo>
                <a:cubicBezTo>
                  <a:pt x="2143" y="426482"/>
                  <a:pt x="0" y="431840"/>
                  <a:pt x="0" y="437465"/>
                </a:cubicBezTo>
                <a:cubicBezTo>
                  <a:pt x="0" y="448360"/>
                  <a:pt x="7858" y="457200"/>
                  <a:pt x="17542" y="457200"/>
                </a:cubicBezTo>
                <a:lnTo>
                  <a:pt x="155099" y="457200"/>
                </a:lnTo>
                <a:cubicBezTo>
                  <a:pt x="185896" y="457200"/>
                  <a:pt x="215344" y="443448"/>
                  <a:pt x="237173" y="418981"/>
                </a:cubicBezTo>
                <a:cubicBezTo>
                  <a:pt x="261461" y="391656"/>
                  <a:pt x="273606" y="353705"/>
                  <a:pt x="270748" y="3155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02000" y="21082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76600" y="2463800"/>
            <a:ext cx="19558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missing value handling, outlier removal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35600" y="2590800"/>
            <a:ext cx="3048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42000" y="1447800"/>
            <a:ext cx="2159000" cy="2540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53200" y="157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9074" y="-24110"/>
                </a:moveTo>
                <a:lnTo>
                  <a:pt x="220821" y="8751"/>
                </a:lnTo>
                <a:lnTo>
                  <a:pt x="250031" y="21967"/>
                </a:lnTo>
                <a:cubicBezTo>
                  <a:pt x="252413" y="23039"/>
                  <a:pt x="254000" y="25718"/>
                  <a:pt x="254000" y="28575"/>
                </a:cubicBezTo>
                <a:cubicBezTo>
                  <a:pt x="254000" y="31433"/>
                  <a:pt x="252413" y="34111"/>
                  <a:pt x="250031" y="35183"/>
                </a:cubicBezTo>
                <a:lnTo>
                  <a:pt x="220821" y="48399"/>
                </a:lnTo>
                <a:lnTo>
                  <a:pt x="209074" y="81260"/>
                </a:lnTo>
                <a:cubicBezTo>
                  <a:pt x="208121" y="83939"/>
                  <a:pt x="205740" y="85725"/>
                  <a:pt x="203200" y="85725"/>
                </a:cubicBezTo>
                <a:cubicBezTo>
                  <a:pt x="200660" y="85725"/>
                  <a:pt x="198279" y="83939"/>
                  <a:pt x="197326" y="81260"/>
                </a:cubicBezTo>
                <a:lnTo>
                  <a:pt x="185579" y="48399"/>
                </a:lnTo>
                <a:lnTo>
                  <a:pt x="156369" y="35183"/>
                </a:lnTo>
                <a:cubicBezTo>
                  <a:pt x="153988" y="34111"/>
                  <a:pt x="152400" y="31432"/>
                  <a:pt x="152400" y="28575"/>
                </a:cubicBezTo>
                <a:cubicBezTo>
                  <a:pt x="152400" y="25718"/>
                  <a:pt x="153988" y="23039"/>
                  <a:pt x="156369" y="21967"/>
                </a:cubicBezTo>
                <a:lnTo>
                  <a:pt x="185579" y="8751"/>
                </a:lnTo>
                <a:lnTo>
                  <a:pt x="197326" y="-24110"/>
                </a:lnTo>
                <a:cubicBezTo>
                  <a:pt x="198279" y="-26789"/>
                  <a:pt x="200660" y="-28575"/>
                  <a:pt x="203200" y="-28575"/>
                </a:cubicBezTo>
                <a:cubicBezTo>
                  <a:pt x="205740" y="-28575"/>
                  <a:pt x="208121" y="-26789"/>
                  <a:pt x="209074" y="-24110"/>
                </a:cubicBezTo>
                <a:close/>
                <a:moveTo>
                  <a:pt x="87868" y="37237"/>
                </a:moveTo>
                <a:lnTo>
                  <a:pt x="104934" y="81975"/>
                </a:lnTo>
                <a:lnTo>
                  <a:pt x="144701" y="101173"/>
                </a:lnTo>
                <a:cubicBezTo>
                  <a:pt x="149384" y="103406"/>
                  <a:pt x="152400" y="108585"/>
                  <a:pt x="152400" y="114300"/>
                </a:cubicBezTo>
                <a:cubicBezTo>
                  <a:pt x="152400" y="120015"/>
                  <a:pt x="149384" y="125194"/>
                  <a:pt x="144701" y="127427"/>
                </a:cubicBezTo>
                <a:lnTo>
                  <a:pt x="104934" y="146625"/>
                </a:lnTo>
                <a:lnTo>
                  <a:pt x="87868" y="191363"/>
                </a:lnTo>
                <a:cubicBezTo>
                  <a:pt x="85884" y="196632"/>
                  <a:pt x="81280" y="200025"/>
                  <a:pt x="76200" y="200025"/>
                </a:cubicBezTo>
                <a:cubicBezTo>
                  <a:pt x="71120" y="200025"/>
                  <a:pt x="66516" y="196632"/>
                  <a:pt x="64532" y="191363"/>
                </a:cubicBezTo>
                <a:lnTo>
                  <a:pt x="47466" y="146625"/>
                </a:lnTo>
                <a:lnTo>
                  <a:pt x="7699" y="127427"/>
                </a:lnTo>
                <a:cubicBezTo>
                  <a:pt x="3016" y="125194"/>
                  <a:pt x="0" y="120015"/>
                  <a:pt x="0" y="114300"/>
                </a:cubicBezTo>
                <a:cubicBezTo>
                  <a:pt x="0" y="108585"/>
                  <a:pt x="3016" y="103406"/>
                  <a:pt x="7699" y="101173"/>
                </a:cubicBezTo>
                <a:lnTo>
                  <a:pt x="47466" y="81975"/>
                </a:lnTo>
                <a:lnTo>
                  <a:pt x="64532" y="37237"/>
                </a:lnTo>
                <a:cubicBezTo>
                  <a:pt x="66516" y="31968"/>
                  <a:pt x="71120" y="28575"/>
                  <a:pt x="76200" y="28575"/>
                </a:cubicBezTo>
                <a:cubicBezTo>
                  <a:pt x="81280" y="28575"/>
                  <a:pt x="85884" y="31968"/>
                  <a:pt x="87868" y="37237"/>
                </a:cubicBezTo>
                <a:close/>
                <a:moveTo>
                  <a:pt x="368300" y="271463"/>
                </a:moveTo>
                <a:cubicBezTo>
                  <a:pt x="373380" y="271463"/>
                  <a:pt x="377984" y="274856"/>
                  <a:pt x="379968" y="280124"/>
                </a:cubicBezTo>
                <a:lnTo>
                  <a:pt x="397034" y="324862"/>
                </a:lnTo>
                <a:lnTo>
                  <a:pt x="436801" y="344061"/>
                </a:lnTo>
                <a:cubicBezTo>
                  <a:pt x="441484" y="346293"/>
                  <a:pt x="444500" y="351473"/>
                  <a:pt x="444500" y="357188"/>
                </a:cubicBezTo>
                <a:cubicBezTo>
                  <a:pt x="444500" y="362903"/>
                  <a:pt x="441484" y="368082"/>
                  <a:pt x="436801" y="370314"/>
                </a:cubicBezTo>
                <a:lnTo>
                  <a:pt x="397034" y="389513"/>
                </a:lnTo>
                <a:lnTo>
                  <a:pt x="379968" y="434251"/>
                </a:lnTo>
                <a:cubicBezTo>
                  <a:pt x="377984" y="439519"/>
                  <a:pt x="373380" y="442913"/>
                  <a:pt x="368300" y="442913"/>
                </a:cubicBezTo>
                <a:cubicBezTo>
                  <a:pt x="363220" y="442913"/>
                  <a:pt x="358616" y="439519"/>
                  <a:pt x="356632" y="434251"/>
                </a:cubicBezTo>
                <a:lnTo>
                  <a:pt x="339566" y="389513"/>
                </a:lnTo>
                <a:lnTo>
                  <a:pt x="299799" y="370314"/>
                </a:lnTo>
                <a:cubicBezTo>
                  <a:pt x="295116" y="368082"/>
                  <a:pt x="292100" y="362903"/>
                  <a:pt x="292100" y="357188"/>
                </a:cubicBezTo>
                <a:cubicBezTo>
                  <a:pt x="292100" y="351473"/>
                  <a:pt x="295116" y="346293"/>
                  <a:pt x="299799" y="344061"/>
                </a:cubicBezTo>
                <a:lnTo>
                  <a:pt x="339566" y="324862"/>
                </a:lnTo>
                <a:lnTo>
                  <a:pt x="356632" y="280124"/>
                </a:lnTo>
                <a:cubicBezTo>
                  <a:pt x="358616" y="274856"/>
                  <a:pt x="363220" y="271463"/>
                  <a:pt x="368300" y="271463"/>
                </a:cubicBezTo>
                <a:close/>
                <a:moveTo>
                  <a:pt x="365125" y="0"/>
                </a:moveTo>
                <a:cubicBezTo>
                  <a:pt x="373856" y="0"/>
                  <a:pt x="382270" y="3929"/>
                  <a:pt x="388541" y="10894"/>
                </a:cubicBezTo>
                <a:lnTo>
                  <a:pt x="422116" y="48667"/>
                </a:lnTo>
                <a:cubicBezTo>
                  <a:pt x="428308" y="55721"/>
                  <a:pt x="431800" y="65187"/>
                  <a:pt x="431800" y="75009"/>
                </a:cubicBezTo>
                <a:cubicBezTo>
                  <a:pt x="431800" y="84832"/>
                  <a:pt x="428308" y="94298"/>
                  <a:pt x="422116" y="101352"/>
                </a:cubicBezTo>
                <a:lnTo>
                  <a:pt x="352107" y="180112"/>
                </a:lnTo>
                <a:lnTo>
                  <a:pt x="271701" y="89654"/>
                </a:lnTo>
                <a:lnTo>
                  <a:pt x="341709" y="10894"/>
                </a:lnTo>
                <a:cubicBezTo>
                  <a:pt x="347980" y="3929"/>
                  <a:pt x="356394" y="0"/>
                  <a:pt x="365125" y="0"/>
                </a:cubicBezTo>
                <a:close/>
                <a:moveTo>
                  <a:pt x="35084" y="355848"/>
                </a:moveTo>
                <a:lnTo>
                  <a:pt x="244793" y="119926"/>
                </a:lnTo>
                <a:lnTo>
                  <a:pt x="325199" y="210383"/>
                </a:lnTo>
                <a:lnTo>
                  <a:pt x="115491" y="446306"/>
                </a:lnTo>
                <a:cubicBezTo>
                  <a:pt x="109220" y="453271"/>
                  <a:pt x="100806" y="457200"/>
                  <a:pt x="92075" y="457200"/>
                </a:cubicBezTo>
                <a:cubicBezTo>
                  <a:pt x="83344" y="457200"/>
                  <a:pt x="74930" y="453271"/>
                  <a:pt x="68659" y="446306"/>
                </a:cubicBezTo>
                <a:lnTo>
                  <a:pt x="35084" y="408533"/>
                </a:lnTo>
                <a:cubicBezTo>
                  <a:pt x="28893" y="401479"/>
                  <a:pt x="25400" y="392013"/>
                  <a:pt x="25400" y="382191"/>
                </a:cubicBezTo>
                <a:cubicBezTo>
                  <a:pt x="25400" y="372368"/>
                  <a:pt x="28893" y="362903"/>
                  <a:pt x="35084" y="35584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69000" y="21082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2463800"/>
            <a:ext cx="19558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lag features: PM25_prev1, prev2, prev3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02600" y="2590800"/>
            <a:ext cx="3048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509000" y="1447800"/>
            <a:ext cx="2159000" cy="2540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220200" y="157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228600"/>
                </a:moveTo>
                <a:lnTo>
                  <a:pt x="136178" y="263872"/>
                </a:lnTo>
                <a:cubicBezTo>
                  <a:pt x="124926" y="259497"/>
                  <a:pt x="112782" y="257175"/>
                  <a:pt x="100013" y="257175"/>
                </a:cubicBezTo>
                <a:cubicBezTo>
                  <a:pt x="44738" y="257175"/>
                  <a:pt x="0" y="301913"/>
                  <a:pt x="0" y="357188"/>
                </a:cubicBezTo>
                <a:cubicBezTo>
                  <a:pt x="0" y="412462"/>
                  <a:pt x="44738" y="457200"/>
                  <a:pt x="100013" y="457200"/>
                </a:cubicBezTo>
                <a:cubicBezTo>
                  <a:pt x="155287" y="457200"/>
                  <a:pt x="200025" y="412462"/>
                  <a:pt x="200025" y="357188"/>
                </a:cubicBezTo>
                <a:cubicBezTo>
                  <a:pt x="200025" y="344418"/>
                  <a:pt x="197614" y="332274"/>
                  <a:pt x="193328" y="321022"/>
                </a:cubicBezTo>
                <a:lnTo>
                  <a:pt x="445770" y="68580"/>
                </a:lnTo>
                <a:cubicBezTo>
                  <a:pt x="452110" y="62240"/>
                  <a:pt x="452110" y="52060"/>
                  <a:pt x="445770" y="45720"/>
                </a:cubicBezTo>
                <a:cubicBezTo>
                  <a:pt x="420499" y="20449"/>
                  <a:pt x="379601" y="20449"/>
                  <a:pt x="354330" y="45720"/>
                </a:cubicBezTo>
                <a:lnTo>
                  <a:pt x="228600" y="171450"/>
                </a:lnTo>
                <a:lnTo>
                  <a:pt x="193328" y="136178"/>
                </a:lnTo>
                <a:cubicBezTo>
                  <a:pt x="197703" y="124926"/>
                  <a:pt x="200025" y="112782"/>
                  <a:pt x="200025" y="100013"/>
                </a:cubicBezTo>
                <a:cubicBezTo>
                  <a:pt x="200025" y="44738"/>
                  <a:pt x="155287" y="0"/>
                  <a:pt x="100013" y="0"/>
                </a:cubicBezTo>
                <a:cubicBezTo>
                  <a:pt x="44738" y="0"/>
                  <a:pt x="0" y="44738"/>
                  <a:pt x="0" y="100013"/>
                </a:cubicBezTo>
                <a:cubicBezTo>
                  <a:pt x="0" y="155287"/>
                  <a:pt x="44738" y="200025"/>
                  <a:pt x="100013" y="200025"/>
                </a:cubicBezTo>
                <a:cubicBezTo>
                  <a:pt x="112782" y="200025"/>
                  <a:pt x="124926" y="197614"/>
                  <a:pt x="136178" y="193328"/>
                </a:cubicBezTo>
                <a:lnTo>
                  <a:pt x="171450" y="228600"/>
                </a:lnTo>
                <a:close/>
                <a:moveTo>
                  <a:pt x="258872" y="316022"/>
                </a:moveTo>
                <a:lnTo>
                  <a:pt x="354330" y="411480"/>
                </a:lnTo>
                <a:cubicBezTo>
                  <a:pt x="379601" y="436751"/>
                  <a:pt x="420499" y="436751"/>
                  <a:pt x="445770" y="411480"/>
                </a:cubicBezTo>
                <a:cubicBezTo>
                  <a:pt x="452110" y="405140"/>
                  <a:pt x="452110" y="394960"/>
                  <a:pt x="445770" y="388620"/>
                </a:cubicBezTo>
                <a:lnTo>
                  <a:pt x="316022" y="258872"/>
                </a:lnTo>
                <a:lnTo>
                  <a:pt x="258872" y="316022"/>
                </a:lnTo>
                <a:close/>
                <a:moveTo>
                  <a:pt x="57150" y="100013"/>
                </a:moveTo>
                <a:cubicBezTo>
                  <a:pt x="57150" y="76356"/>
                  <a:pt x="76356" y="57150"/>
                  <a:pt x="100012" y="57150"/>
                </a:cubicBezTo>
                <a:cubicBezTo>
                  <a:pt x="123669" y="57150"/>
                  <a:pt x="142875" y="76356"/>
                  <a:pt x="142875" y="100012"/>
                </a:cubicBezTo>
                <a:cubicBezTo>
                  <a:pt x="142875" y="123669"/>
                  <a:pt x="123669" y="142875"/>
                  <a:pt x="100013" y="142875"/>
                </a:cubicBezTo>
                <a:cubicBezTo>
                  <a:pt x="76356" y="142875"/>
                  <a:pt x="57150" y="123669"/>
                  <a:pt x="57150" y="100013"/>
                </a:cubicBezTo>
                <a:close/>
                <a:moveTo>
                  <a:pt x="100013" y="314325"/>
                </a:moveTo>
                <a:cubicBezTo>
                  <a:pt x="123669" y="314325"/>
                  <a:pt x="142875" y="333531"/>
                  <a:pt x="142875" y="357188"/>
                </a:cubicBezTo>
                <a:cubicBezTo>
                  <a:pt x="142875" y="380844"/>
                  <a:pt x="123669" y="400050"/>
                  <a:pt x="100013" y="400050"/>
                </a:cubicBezTo>
                <a:cubicBezTo>
                  <a:pt x="76356" y="400050"/>
                  <a:pt x="57150" y="380844"/>
                  <a:pt x="57150" y="357188"/>
                </a:cubicBezTo>
                <a:cubicBezTo>
                  <a:pt x="57150" y="333531"/>
                  <a:pt x="76356" y="314325"/>
                  <a:pt x="100012" y="3143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36000" y="21082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10600" y="2463800"/>
            <a:ext cx="19558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training, 20% testing with random shuffle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769600" y="2590800"/>
            <a:ext cx="3048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1176000" y="1447800"/>
            <a:ext cx="2159000" cy="2540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1887200" y="157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303000" y="21082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Lin. Regression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277600" y="2463800"/>
            <a:ext cx="19558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LinearRegression model training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3436600" y="2590800"/>
            <a:ext cx="3048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3843000" y="1447800"/>
            <a:ext cx="1905000" cy="2540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4478000" y="157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3906500" y="21082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3881100" y="2463800"/>
            <a:ext cx="1828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R2 metrics on test set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8000" y="4318000"/>
            <a:ext cx="7366000" cy="2540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11200" y="4445000"/>
            <a:ext cx="6959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 (6)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11200" y="4851400"/>
            <a:ext cx="69596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11200" y="4953000"/>
            <a:ext cx="69596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</a:t>
            </a: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Current concentration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PM25_prev1</a:t>
            </a: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Previous (t-1)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PM25_prev2</a:t>
            </a: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Two steps back (t-2)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PM25_prev3</a:t>
            </a: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Three steps back (t-3)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Ambient temp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Atmospheric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382000" y="4318000"/>
            <a:ext cx="7366000" cy="2540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585200" y="4445000"/>
            <a:ext cx="6959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(1)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585200" y="4851400"/>
            <a:ext cx="6959600" cy="12700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585200" y="4978400"/>
            <a:ext cx="69596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PM2.5 Prediction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PM2.5 concentration one time step ahead using linear regression on the 6 input features.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y = w1*x1 + w2*x2 + ... + w6*x6 + b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08000" y="7162800"/>
            <a:ext cx="15240000" cy="7112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62000" y="7162800"/>
            <a:ext cx="1473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</a:t>
            </a:r>
            <a:r>
              <a:rPr lang="en-US" sz="15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training, model weights and bias are extracted and manually transferred into the STM32 firmware as C array constants — no ML framework required on the embedded device.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Machine Learning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8000" y="990600"/>
            <a:ext cx="596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2. Linear Regression Model Evaluation Metrics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817165"/>
              </p:ext>
            </p:extLst>
          </p:nvPr>
        </p:nvGraphicFramePr>
        <p:xfrm>
          <a:off x="508000" y="1371600"/>
          <a:ext cx="5588000" cy="2032000"/>
        </p:xfrm>
        <a:graphic>
          <a:graphicData uri="http://schemas.openxmlformats.org/drawingml/2006/table">
            <a:tbl>
              <a:tblPr/>
              <a:tblGrid>
                <a:gridCol w="22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Assessment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MAE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2C2C"/>
                          </a:solidFill>
                        </a:rPr>
                        <a:t>12.98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Good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RMSE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2C2C"/>
                          </a:solidFill>
                        </a:rPr>
                        <a:t>25.36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Acceptable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R² Score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2C2C"/>
                          </a:solidFill>
                        </a:rPr>
                        <a:t>0.93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7AE60"/>
                          </a:solidFill>
                        </a:rPr>
                        <a:t>Excellent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6604000" y="990600"/>
            <a:ext cx="914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Real vs Predicted PM2.5 Values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8000" y="3683000"/>
            <a:ext cx="5588000" cy="12446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11200" y="3784600"/>
            <a:ext cx="5181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11200" y="4114800"/>
            <a:ext cx="5181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= 0.92 explains 92% of variance. Linear Regression is ideal for embedded deployment.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8000" y="5207000"/>
            <a:ext cx="15240000" cy="711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62000" y="5207000"/>
            <a:ext cx="1473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Advantage:</a:t>
            </a:r>
            <a:r>
              <a:rPr lang="en-US" sz="15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Linear Regression achieves high accuracy (R2 </a:t>
            </a:r>
            <a:r>
              <a:rPr lang="en-US" sz="150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0.93) </a:t>
            </a:r>
            <a:r>
              <a:rPr lang="en-US" sz="15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remaining computationally lightweight — requiring only multiply-accumulate operations, ideal for resource-constrained STM32 microcontrollers.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A1DCCBB-063E-2699-E4A8-37B3CC0FD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800" y="1455572"/>
            <a:ext cx="9406883" cy="33323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Results &amp; Deployment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ML Deployment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8000" y="1117600"/>
            <a:ext cx="3048000" cy="1016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1200" y="127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32" y="179040"/>
                </a:moveTo>
                <a:cubicBezTo>
                  <a:pt x="440973" y="151448"/>
                  <a:pt x="426074" y="130641"/>
                  <a:pt x="394335" y="130641"/>
                </a:cubicBezTo>
                <a:lnTo>
                  <a:pt x="353412" y="130641"/>
                </a:lnTo>
                <a:lnTo>
                  <a:pt x="353412" y="172968"/>
                </a:lnTo>
                <a:cubicBezTo>
                  <a:pt x="353412" y="205829"/>
                  <a:pt x="321571" y="233511"/>
                  <a:pt x="285240" y="233511"/>
                </a:cubicBezTo>
                <a:lnTo>
                  <a:pt x="176247" y="233511"/>
                </a:lnTo>
                <a:cubicBezTo>
                  <a:pt x="146447" y="233511"/>
                  <a:pt x="121750" y="255836"/>
                  <a:pt x="121750" y="282000"/>
                </a:cubicBezTo>
                <a:lnTo>
                  <a:pt x="121750" y="372904"/>
                </a:lnTo>
                <a:cubicBezTo>
                  <a:pt x="121750" y="398800"/>
                  <a:pt x="147467" y="413980"/>
                  <a:pt x="176247" y="421392"/>
                </a:cubicBezTo>
                <a:cubicBezTo>
                  <a:pt x="210741" y="430232"/>
                  <a:pt x="243908" y="431840"/>
                  <a:pt x="285240" y="421392"/>
                </a:cubicBezTo>
                <a:cubicBezTo>
                  <a:pt x="312692" y="414427"/>
                  <a:pt x="339736" y="400407"/>
                  <a:pt x="339736" y="372904"/>
                </a:cubicBezTo>
                <a:lnTo>
                  <a:pt x="339736" y="336560"/>
                </a:lnTo>
                <a:lnTo>
                  <a:pt x="230845" y="336560"/>
                </a:lnTo>
                <a:lnTo>
                  <a:pt x="230845" y="324416"/>
                </a:lnTo>
                <a:lnTo>
                  <a:pt x="394335" y="324416"/>
                </a:lnTo>
                <a:cubicBezTo>
                  <a:pt x="426074" y="324416"/>
                  <a:pt x="437810" y="305038"/>
                  <a:pt x="448832" y="276017"/>
                </a:cubicBezTo>
                <a:cubicBezTo>
                  <a:pt x="460262" y="246102"/>
                  <a:pt x="459751" y="217349"/>
                  <a:pt x="448832" y="179040"/>
                </a:cubicBezTo>
                <a:close/>
                <a:moveTo>
                  <a:pt x="292077" y="397103"/>
                </a:moveTo>
                <a:cubicBezTo>
                  <a:pt x="284310" y="397580"/>
                  <a:pt x="276888" y="394224"/>
                  <a:pt x="272839" y="388405"/>
                </a:cubicBezTo>
                <a:cubicBezTo>
                  <a:pt x="268789" y="382586"/>
                  <a:pt x="268789" y="375276"/>
                  <a:pt x="272839" y="369457"/>
                </a:cubicBezTo>
                <a:cubicBezTo>
                  <a:pt x="276888" y="363638"/>
                  <a:pt x="284310" y="360283"/>
                  <a:pt x="292077" y="360759"/>
                </a:cubicBezTo>
                <a:cubicBezTo>
                  <a:pt x="299844" y="360283"/>
                  <a:pt x="307266" y="363638"/>
                  <a:pt x="311316" y="369457"/>
                </a:cubicBezTo>
                <a:cubicBezTo>
                  <a:pt x="315365" y="375276"/>
                  <a:pt x="315365" y="382586"/>
                  <a:pt x="311316" y="388405"/>
                </a:cubicBezTo>
                <a:cubicBezTo>
                  <a:pt x="307266" y="394224"/>
                  <a:pt x="299844" y="397580"/>
                  <a:pt x="292077" y="397103"/>
                </a:cubicBezTo>
                <a:close/>
                <a:moveTo>
                  <a:pt x="171246" y="221546"/>
                </a:moveTo>
                <a:lnTo>
                  <a:pt x="280239" y="221546"/>
                </a:lnTo>
                <a:cubicBezTo>
                  <a:pt x="310549" y="221546"/>
                  <a:pt x="334736" y="199668"/>
                  <a:pt x="334736" y="173057"/>
                </a:cubicBezTo>
                <a:lnTo>
                  <a:pt x="334736" y="82064"/>
                </a:lnTo>
                <a:cubicBezTo>
                  <a:pt x="334736" y="56168"/>
                  <a:pt x="309835" y="36790"/>
                  <a:pt x="280239" y="32415"/>
                </a:cubicBezTo>
                <a:cubicBezTo>
                  <a:pt x="243704" y="27146"/>
                  <a:pt x="204005" y="27414"/>
                  <a:pt x="171246" y="32504"/>
                </a:cubicBezTo>
                <a:cubicBezTo>
                  <a:pt x="125118" y="39648"/>
                  <a:pt x="116749" y="54560"/>
                  <a:pt x="116749" y="82153"/>
                </a:cubicBezTo>
                <a:lnTo>
                  <a:pt x="116749" y="118497"/>
                </a:lnTo>
                <a:lnTo>
                  <a:pt x="225845" y="118497"/>
                </a:lnTo>
                <a:lnTo>
                  <a:pt x="225845" y="130641"/>
                </a:lnTo>
                <a:lnTo>
                  <a:pt x="75826" y="130641"/>
                </a:lnTo>
                <a:cubicBezTo>
                  <a:pt x="44087" y="130641"/>
                  <a:pt x="16329" y="147340"/>
                  <a:pt x="7654" y="179040"/>
                </a:cubicBezTo>
                <a:cubicBezTo>
                  <a:pt x="-2347" y="215384"/>
                  <a:pt x="-2755" y="238065"/>
                  <a:pt x="7654" y="276017"/>
                </a:cubicBezTo>
                <a:cubicBezTo>
                  <a:pt x="15410" y="304234"/>
                  <a:pt x="33882" y="324416"/>
                  <a:pt x="65620" y="324416"/>
                </a:cubicBezTo>
                <a:lnTo>
                  <a:pt x="103074" y="324416"/>
                </a:lnTo>
                <a:lnTo>
                  <a:pt x="103074" y="280839"/>
                </a:lnTo>
                <a:cubicBezTo>
                  <a:pt x="103074" y="249317"/>
                  <a:pt x="134200" y="221546"/>
                  <a:pt x="171246" y="221546"/>
                </a:cubicBezTo>
                <a:close/>
                <a:moveTo>
                  <a:pt x="164510" y="57775"/>
                </a:moveTo>
                <a:cubicBezTo>
                  <a:pt x="176001" y="57775"/>
                  <a:pt x="185329" y="65938"/>
                  <a:pt x="185329" y="75992"/>
                </a:cubicBezTo>
                <a:cubicBezTo>
                  <a:pt x="185329" y="86046"/>
                  <a:pt x="176001" y="94208"/>
                  <a:pt x="164510" y="94208"/>
                </a:cubicBezTo>
                <a:cubicBezTo>
                  <a:pt x="153020" y="94208"/>
                  <a:pt x="143691" y="86046"/>
                  <a:pt x="143691" y="75992"/>
                </a:cubicBezTo>
                <a:cubicBezTo>
                  <a:pt x="143691" y="65938"/>
                  <a:pt x="153020" y="57775"/>
                  <a:pt x="164510" y="577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70000" y="1117600"/>
            <a:ext cx="2133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0" y="1498600"/>
            <a:ext cx="508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18000" y="1117600"/>
            <a:ext cx="3048000" cy="1016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21200" y="127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3914" y="0"/>
                </a:moveTo>
                <a:lnTo>
                  <a:pt x="130629" y="0"/>
                </a:lnTo>
                <a:cubicBezTo>
                  <a:pt x="112565" y="0"/>
                  <a:pt x="97971" y="12769"/>
                  <a:pt x="97971" y="28575"/>
                </a:cubicBezTo>
                <a:cubicBezTo>
                  <a:pt x="97971" y="44381"/>
                  <a:pt x="112565" y="57150"/>
                  <a:pt x="130629" y="57150"/>
                </a:cubicBezTo>
                <a:lnTo>
                  <a:pt x="130629" y="192435"/>
                </a:lnTo>
                <a:lnTo>
                  <a:pt x="7654" y="380673"/>
                </a:lnTo>
                <a:cubicBezTo>
                  <a:pt x="2653" y="388441"/>
                  <a:pt x="0" y="397103"/>
                  <a:pt x="0" y="406033"/>
                </a:cubicBezTo>
                <a:cubicBezTo>
                  <a:pt x="0" y="434340"/>
                  <a:pt x="26126" y="457200"/>
                  <a:pt x="58477" y="457200"/>
                </a:cubicBezTo>
                <a:lnTo>
                  <a:pt x="398723" y="457200"/>
                </a:lnTo>
                <a:cubicBezTo>
                  <a:pt x="430972" y="457200"/>
                  <a:pt x="457200" y="434340"/>
                  <a:pt x="457200" y="406033"/>
                </a:cubicBezTo>
                <a:cubicBezTo>
                  <a:pt x="457200" y="397103"/>
                  <a:pt x="454547" y="388352"/>
                  <a:pt x="449546" y="380673"/>
                </a:cubicBezTo>
                <a:lnTo>
                  <a:pt x="326571" y="192435"/>
                </a:lnTo>
                <a:lnTo>
                  <a:pt x="326571" y="57150"/>
                </a:lnTo>
                <a:cubicBezTo>
                  <a:pt x="344635" y="57150"/>
                  <a:pt x="359229" y="44381"/>
                  <a:pt x="359229" y="28575"/>
                </a:cubicBezTo>
                <a:cubicBezTo>
                  <a:pt x="359229" y="12769"/>
                  <a:pt x="344635" y="0"/>
                  <a:pt x="326571" y="0"/>
                </a:cubicBezTo>
                <a:lnTo>
                  <a:pt x="293914" y="0"/>
                </a:lnTo>
                <a:close/>
                <a:moveTo>
                  <a:pt x="195943" y="192435"/>
                </a:moveTo>
                <a:lnTo>
                  <a:pt x="195943" y="57150"/>
                </a:lnTo>
                <a:lnTo>
                  <a:pt x="261257" y="57150"/>
                </a:lnTo>
                <a:lnTo>
                  <a:pt x="261257" y="192435"/>
                </a:lnTo>
                <a:cubicBezTo>
                  <a:pt x="261257" y="202347"/>
                  <a:pt x="264217" y="212169"/>
                  <a:pt x="269830" y="220831"/>
                </a:cubicBezTo>
                <a:lnTo>
                  <a:pt x="312284" y="285750"/>
                </a:lnTo>
                <a:lnTo>
                  <a:pt x="144916" y="285750"/>
                </a:lnTo>
                <a:lnTo>
                  <a:pt x="187370" y="220831"/>
                </a:lnTo>
                <a:cubicBezTo>
                  <a:pt x="192983" y="212169"/>
                  <a:pt x="195943" y="202436"/>
                  <a:pt x="195943" y="19243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80000" y="1117600"/>
            <a:ext cx="2133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67600" y="1498600"/>
            <a:ext cx="508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28000" y="1117600"/>
            <a:ext cx="3048000" cy="1016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31200" y="127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57150"/>
                </a:moveTo>
                <a:cubicBezTo>
                  <a:pt x="12769" y="57150"/>
                  <a:pt x="0" y="69919"/>
                  <a:pt x="0" y="85725"/>
                </a:cubicBezTo>
                <a:cubicBezTo>
                  <a:pt x="0" y="101531"/>
                  <a:pt x="12769" y="114300"/>
                  <a:pt x="28575" y="114300"/>
                </a:cubicBezTo>
                <a:lnTo>
                  <a:pt x="105995" y="114300"/>
                </a:lnTo>
                <a:cubicBezTo>
                  <a:pt x="116979" y="139571"/>
                  <a:pt x="142161" y="157163"/>
                  <a:pt x="171450" y="157163"/>
                </a:cubicBezTo>
                <a:cubicBezTo>
                  <a:pt x="200739" y="157163"/>
                  <a:pt x="225921" y="139571"/>
                  <a:pt x="236905" y="114300"/>
                </a:cubicBezTo>
                <a:lnTo>
                  <a:pt x="428625" y="114300"/>
                </a:lnTo>
                <a:cubicBezTo>
                  <a:pt x="444431" y="114300"/>
                  <a:pt x="457200" y="101531"/>
                  <a:pt x="457200" y="85725"/>
                </a:cubicBezTo>
                <a:cubicBezTo>
                  <a:pt x="457200" y="69919"/>
                  <a:pt x="444431" y="57150"/>
                  <a:pt x="428625" y="57150"/>
                </a:cubicBezTo>
                <a:lnTo>
                  <a:pt x="236905" y="57150"/>
                </a:lnTo>
                <a:cubicBezTo>
                  <a:pt x="225921" y="31879"/>
                  <a:pt x="200739" y="14288"/>
                  <a:pt x="171450" y="14288"/>
                </a:cubicBezTo>
                <a:cubicBezTo>
                  <a:pt x="142161" y="14288"/>
                  <a:pt x="116979" y="31879"/>
                  <a:pt x="105995" y="57150"/>
                </a:cubicBezTo>
                <a:lnTo>
                  <a:pt x="28575" y="57150"/>
                </a:lnTo>
                <a:close/>
                <a:moveTo>
                  <a:pt x="28575" y="200025"/>
                </a:move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248870" y="257175"/>
                </a:lnTo>
                <a:cubicBezTo>
                  <a:pt x="259854" y="282446"/>
                  <a:pt x="285036" y="300038"/>
                  <a:pt x="314325" y="300038"/>
                </a:cubicBezTo>
                <a:cubicBezTo>
                  <a:pt x="343614" y="300038"/>
                  <a:pt x="368796" y="282446"/>
                  <a:pt x="379780" y="257175"/>
                </a:cubicBezTo>
                <a:lnTo>
                  <a:pt x="428625" y="257175"/>
                </a:lnTo>
                <a:cubicBezTo>
                  <a:pt x="444431" y="257175"/>
                  <a:pt x="457200" y="244406"/>
                  <a:pt x="457200" y="228600"/>
                </a:cubicBezTo>
                <a:cubicBezTo>
                  <a:pt x="457200" y="212794"/>
                  <a:pt x="444431" y="200025"/>
                  <a:pt x="428625" y="200025"/>
                </a:cubicBezTo>
                <a:lnTo>
                  <a:pt x="379780" y="200025"/>
                </a:lnTo>
                <a:cubicBezTo>
                  <a:pt x="368796" y="174754"/>
                  <a:pt x="343614" y="157163"/>
                  <a:pt x="314325" y="157163"/>
                </a:cubicBezTo>
                <a:cubicBezTo>
                  <a:pt x="285036" y="157163"/>
                  <a:pt x="259854" y="174754"/>
                  <a:pt x="248870" y="200025"/>
                </a:cubicBezTo>
                <a:lnTo>
                  <a:pt x="28575" y="200025"/>
                </a:lnTo>
                <a:close/>
                <a:moveTo>
                  <a:pt x="28575" y="342900"/>
                </a:moveTo>
                <a:cubicBezTo>
                  <a:pt x="12769" y="342900"/>
                  <a:pt x="0" y="355669"/>
                  <a:pt x="0" y="371475"/>
                </a:cubicBezTo>
                <a:cubicBezTo>
                  <a:pt x="0" y="387281"/>
                  <a:pt x="12769" y="400050"/>
                  <a:pt x="28575" y="400050"/>
                </a:cubicBezTo>
                <a:lnTo>
                  <a:pt x="77420" y="400050"/>
                </a:lnTo>
                <a:cubicBezTo>
                  <a:pt x="88404" y="425321"/>
                  <a:pt x="113586" y="442913"/>
                  <a:pt x="142875" y="442913"/>
                </a:cubicBezTo>
                <a:cubicBezTo>
                  <a:pt x="172164" y="442913"/>
                  <a:pt x="197346" y="425321"/>
                  <a:pt x="208330" y="400050"/>
                </a:cubicBezTo>
                <a:lnTo>
                  <a:pt x="428625" y="400050"/>
                </a:lnTo>
                <a:cubicBezTo>
                  <a:pt x="444431" y="400050"/>
                  <a:pt x="457200" y="387281"/>
                  <a:pt x="457200" y="371475"/>
                </a:cubicBezTo>
                <a:cubicBezTo>
                  <a:pt x="457200" y="355669"/>
                  <a:pt x="444431" y="342900"/>
                  <a:pt x="428625" y="342900"/>
                </a:cubicBezTo>
                <a:lnTo>
                  <a:pt x="208330" y="342900"/>
                </a:lnTo>
                <a:cubicBezTo>
                  <a:pt x="197346" y="317629"/>
                  <a:pt x="172164" y="300038"/>
                  <a:pt x="142875" y="300038"/>
                </a:cubicBezTo>
                <a:cubicBezTo>
                  <a:pt x="113586" y="300038"/>
                  <a:pt x="88404" y="317629"/>
                  <a:pt x="77420" y="342900"/>
                </a:cubicBezTo>
                <a:lnTo>
                  <a:pt x="28575" y="3429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90000" y="1117600"/>
            <a:ext cx="2133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weights + 1 bias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277600" y="1498600"/>
            <a:ext cx="508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938000" y="1117600"/>
            <a:ext cx="3810000" cy="1016000"/>
          </a:xfrm>
          <a:prstGeom prst="roundRect">
            <a:avLst>
              <a:gd name="adj" fmla="val 4000"/>
            </a:avLst>
          </a:prstGeom>
          <a:solidFill>
            <a:srgbClr val="455A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2141200" y="127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57150"/>
                </a:moveTo>
                <a:cubicBezTo>
                  <a:pt x="0" y="25628"/>
                  <a:pt x="34171" y="0"/>
                  <a:pt x="76200" y="0"/>
                </a:cubicBezTo>
                <a:lnTo>
                  <a:pt x="254198" y="0"/>
                </a:lnTo>
                <a:cubicBezTo>
                  <a:pt x="274439" y="0"/>
                  <a:pt x="293846" y="5983"/>
                  <a:pt x="308134" y="16699"/>
                </a:cubicBezTo>
                <a:lnTo>
                  <a:pt x="434935" y="111889"/>
                </a:lnTo>
                <a:cubicBezTo>
                  <a:pt x="449223" y="122605"/>
                  <a:pt x="457200" y="137160"/>
                  <a:pt x="457200" y="152340"/>
                </a:cubicBezTo>
                <a:lnTo>
                  <a:pt x="457200" y="400050"/>
                </a:lnTo>
                <a:cubicBezTo>
                  <a:pt x="457200" y="431572"/>
                  <a:pt x="423029" y="457200"/>
                  <a:pt x="381000" y="457200"/>
                </a:cubicBezTo>
                <a:lnTo>
                  <a:pt x="76200" y="457200"/>
                </a:lnTo>
                <a:cubicBezTo>
                  <a:pt x="34171" y="457200"/>
                  <a:pt x="0" y="431572"/>
                  <a:pt x="0" y="400050"/>
                </a:cubicBezTo>
                <a:lnTo>
                  <a:pt x="0" y="57150"/>
                </a:lnTo>
                <a:close/>
                <a:moveTo>
                  <a:pt x="247650" y="52239"/>
                </a:moveTo>
                <a:lnTo>
                  <a:pt x="247650" y="135731"/>
                </a:lnTo>
                <a:cubicBezTo>
                  <a:pt x="247650" y="147608"/>
                  <a:pt x="260390" y="157163"/>
                  <a:pt x="276225" y="157163"/>
                </a:cubicBezTo>
                <a:lnTo>
                  <a:pt x="387548" y="157163"/>
                </a:lnTo>
                <a:lnTo>
                  <a:pt x="247650" y="52239"/>
                </a:lnTo>
                <a:close/>
                <a:moveTo>
                  <a:pt x="183594" y="263962"/>
                </a:moveTo>
                <a:cubicBezTo>
                  <a:pt x="193834" y="254943"/>
                  <a:pt x="192524" y="241459"/>
                  <a:pt x="180499" y="233779"/>
                </a:cubicBezTo>
                <a:cubicBezTo>
                  <a:pt x="168473" y="226100"/>
                  <a:pt x="150495" y="227082"/>
                  <a:pt x="140256" y="236101"/>
                </a:cubicBezTo>
                <a:lnTo>
                  <a:pt x="83106" y="286107"/>
                </a:lnTo>
                <a:cubicBezTo>
                  <a:pt x="73938" y="294144"/>
                  <a:pt x="73938" y="305931"/>
                  <a:pt x="83106" y="313968"/>
                </a:cubicBezTo>
                <a:lnTo>
                  <a:pt x="140256" y="363974"/>
                </a:lnTo>
                <a:cubicBezTo>
                  <a:pt x="150495" y="372993"/>
                  <a:pt x="168592" y="373975"/>
                  <a:pt x="180499" y="366296"/>
                </a:cubicBezTo>
                <a:cubicBezTo>
                  <a:pt x="192405" y="358616"/>
                  <a:pt x="193834" y="345043"/>
                  <a:pt x="183594" y="336113"/>
                </a:cubicBezTo>
                <a:lnTo>
                  <a:pt x="142399" y="300038"/>
                </a:lnTo>
                <a:lnTo>
                  <a:pt x="183594" y="263962"/>
                </a:lnTo>
                <a:close/>
                <a:moveTo>
                  <a:pt x="316944" y="236101"/>
                </a:moveTo>
                <a:cubicBezTo>
                  <a:pt x="306705" y="227082"/>
                  <a:pt x="288607" y="226100"/>
                  <a:pt x="276701" y="233779"/>
                </a:cubicBezTo>
                <a:cubicBezTo>
                  <a:pt x="264795" y="241459"/>
                  <a:pt x="263366" y="255032"/>
                  <a:pt x="273606" y="263962"/>
                </a:cubicBezTo>
                <a:lnTo>
                  <a:pt x="314801" y="300038"/>
                </a:lnTo>
                <a:lnTo>
                  <a:pt x="273606" y="336113"/>
                </a:lnTo>
                <a:cubicBezTo>
                  <a:pt x="263366" y="345132"/>
                  <a:pt x="264676" y="358616"/>
                  <a:pt x="276701" y="366296"/>
                </a:cubicBezTo>
                <a:cubicBezTo>
                  <a:pt x="288727" y="373975"/>
                  <a:pt x="306705" y="372993"/>
                  <a:pt x="316944" y="363974"/>
                </a:cubicBezTo>
                <a:lnTo>
                  <a:pt x="374094" y="313968"/>
                </a:lnTo>
                <a:cubicBezTo>
                  <a:pt x="383262" y="305931"/>
                  <a:pt x="383262" y="294144"/>
                  <a:pt x="374094" y="286107"/>
                </a:cubicBezTo>
                <a:lnTo>
                  <a:pt x="316944" y="23610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700000" y="1117600"/>
            <a:ext cx="2895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predictor.c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Implementation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8000" y="2413000"/>
            <a:ext cx="15240000" cy="1016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2000" y="24892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Equation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/>
              <p:cNvSpPr/>
              <p:nvPr/>
            </p:nvSpPr>
            <p:spPr>
              <a:xfrm>
                <a:off x="762000" y="2819400"/>
                <a:ext cx="1473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en-US" sz="2200" i="1" dirty="0">
                              <a:solidFill>
                                <a:srgbClr val="1A4A7A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limUppPr>
                        <m:e>
                          <m:r>
                            <a:rPr lang="en-US" sz="2200" i="1" dirty="0">
                              <a:solidFill>
                                <a:srgbClr val="1A4A7A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𝑦</m:t>
                          </m:r>
                        </m:e>
                        <m:lim>
                          <m:r>
                            <a:rPr lang="en-US" sz="2200" dirty="0">
                              <a:solidFill>
                                <a:srgbClr val="1A4A7A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^</m:t>
                          </m:r>
                        </m:lim>
                      </m:limUpp>
                      <m:r>
                        <a:rPr lang="en-US" sz="2200" dirty="0">
                          <a:solidFill>
                            <a:srgbClr val="1A4A7A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=</m:t>
                      </m:r>
                      <m:sSubSup>
                        <m:sSubSupPr>
                          <m:ctrlPr>
                            <a:rPr lang="en-US" sz="1500" i="1" dirty="0">
                              <a:solidFill>
                                <a:srgbClr val="1A4A7A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bSupPr>
                        <m:e>
                          <m:r>
                            <a:rPr lang="en-US" sz="1500" dirty="0">
                              <a:solidFill>
                                <a:srgbClr val="1A4A7A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A4A7A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𝑖</m:t>
                          </m:r>
                          <m:r>
                            <a:rPr lang="en-US" sz="1500" dirty="0">
                              <a:solidFill>
                                <a:srgbClr val="1A4A7A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=1</m:t>
                          </m:r>
                        </m:sub>
                        <m:sup>
                          <m:r>
                            <a:rPr lang="en-US" sz="1500" dirty="0">
                              <a:solidFill>
                                <a:srgbClr val="1A4A7A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6</m:t>
                          </m:r>
                        </m:sup>
                      </m:sSubSup>
                      <m:r>
                        <a:rPr lang="en-US" sz="2200" dirty="0">
                          <a:solidFill>
                            <a:srgbClr val="1A4A7A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sz="1500" i="1" dirty="0">
                              <a:solidFill>
                                <a:srgbClr val="1A4A7A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1A4A7A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A4A7A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𝑖</m:t>
                          </m:r>
                        </m:sub>
                      </m:sSub>
                      <m:r>
                        <a:rPr lang="en-US" sz="2200" dirty="0">
                          <a:solidFill>
                            <a:srgbClr val="1A4A7A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⋅</m:t>
                      </m:r>
                      <m:sSub>
                        <m:sSubPr>
                          <m:ctrlPr>
                            <a:rPr lang="en-US" sz="1500" i="1" dirty="0">
                              <a:solidFill>
                                <a:srgbClr val="1A4A7A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1A4A7A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A4A7A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𝑖</m:t>
                          </m:r>
                        </m:sub>
                      </m:sSub>
                      <m:r>
                        <a:rPr lang="en-US" sz="2200" dirty="0">
                          <a:solidFill>
                            <a:srgbClr val="1A4A7A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)+</m:t>
                      </m:r>
                      <m:r>
                        <a:rPr lang="en-US" sz="2200" i="1" dirty="0">
                          <a:solidFill>
                            <a:srgbClr val="1A4A7A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𝑏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4" name="Text 22"/>
              <p:cNvSpPr/>
              <p:nvPr/>
            </p:nvSpPr>
            <p:spPr>
              <a:xfrm>
                <a:off x="762000" y="2819400"/>
                <a:ext cx="1473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2200" dirty="0">
                    <a:solidFill>
                      <a:srgbClr val="1A4A7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\( \hat{y} = \sum_{i=1}^{6} (w_i \cdot x_i) + b \)</a:t>
                </a:r>
                <a:endParaRPr lang="en-US" sz="2200" dirty="0"/>
              </a:p>
            </p:txBody>
          </p:sp>
        </mc:Fallback>
      </mc:AlternateContent>
      <p:sp>
        <p:nvSpPr>
          <p:cNvPr id="25" name="Shape 23"/>
          <p:cNvSpPr/>
          <p:nvPr/>
        </p:nvSpPr>
        <p:spPr>
          <a:xfrm>
            <a:off x="508000" y="3708400"/>
            <a:ext cx="3556000" cy="2540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62000" y="3911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95250"/>
                </a:moveTo>
                <a:cubicBezTo>
                  <a:pt x="50800" y="60226"/>
                  <a:pt x="73581" y="31750"/>
                  <a:pt x="101600" y="31750"/>
                </a:cubicBezTo>
                <a:lnTo>
                  <a:pt x="406400" y="31750"/>
                </a:lnTo>
                <a:cubicBezTo>
                  <a:pt x="434419" y="31750"/>
                  <a:pt x="457200" y="60226"/>
                  <a:pt x="457200" y="95250"/>
                </a:cubicBezTo>
                <a:lnTo>
                  <a:pt x="457200" y="333375"/>
                </a:lnTo>
                <a:lnTo>
                  <a:pt x="406400" y="333375"/>
                </a:lnTo>
                <a:lnTo>
                  <a:pt x="406400" y="95250"/>
                </a:lnTo>
                <a:lnTo>
                  <a:pt x="101600" y="95250"/>
                </a:lnTo>
                <a:lnTo>
                  <a:pt x="101600" y="333375"/>
                </a:lnTo>
                <a:lnTo>
                  <a:pt x="50800" y="333375"/>
                </a:lnTo>
                <a:lnTo>
                  <a:pt x="50800" y="95250"/>
                </a:lnTo>
                <a:close/>
                <a:moveTo>
                  <a:pt x="0" y="400050"/>
                </a:moveTo>
                <a:cubicBezTo>
                  <a:pt x="0" y="389533"/>
                  <a:pt x="6826" y="381000"/>
                  <a:pt x="15240" y="381000"/>
                </a:cubicBezTo>
                <a:lnTo>
                  <a:pt x="492760" y="381000"/>
                </a:lnTo>
                <a:cubicBezTo>
                  <a:pt x="501174" y="381000"/>
                  <a:pt x="508000" y="389533"/>
                  <a:pt x="508000" y="400050"/>
                </a:cubicBezTo>
                <a:cubicBezTo>
                  <a:pt x="508000" y="442119"/>
                  <a:pt x="480695" y="476250"/>
                  <a:pt x="447040" y="476250"/>
                </a:cubicBezTo>
                <a:lnTo>
                  <a:pt x="60960" y="476250"/>
                </a:lnTo>
                <a:cubicBezTo>
                  <a:pt x="27305" y="476250"/>
                  <a:pt x="0" y="442119"/>
                  <a:pt x="0" y="400050"/>
                </a:cubicBezTo>
                <a:close/>
                <a:moveTo>
                  <a:pt x="223044" y="207367"/>
                </a:moveTo>
                <a:lnTo>
                  <a:pt x="198438" y="238125"/>
                </a:lnTo>
                <a:lnTo>
                  <a:pt x="223044" y="268883"/>
                </a:lnTo>
                <a:cubicBezTo>
                  <a:pt x="230505" y="278209"/>
                  <a:pt x="230505" y="293291"/>
                  <a:pt x="223044" y="302518"/>
                </a:cubicBezTo>
                <a:cubicBezTo>
                  <a:pt x="215583" y="311745"/>
                  <a:pt x="203518" y="311845"/>
                  <a:pt x="196136" y="302518"/>
                </a:cubicBezTo>
                <a:lnTo>
                  <a:pt x="158036" y="254893"/>
                </a:lnTo>
                <a:cubicBezTo>
                  <a:pt x="150574" y="245566"/>
                  <a:pt x="150574" y="230485"/>
                  <a:pt x="158036" y="221258"/>
                </a:cubicBezTo>
                <a:lnTo>
                  <a:pt x="196136" y="173633"/>
                </a:lnTo>
                <a:cubicBezTo>
                  <a:pt x="203597" y="164306"/>
                  <a:pt x="215662" y="164306"/>
                  <a:pt x="223044" y="173633"/>
                </a:cubicBezTo>
                <a:cubicBezTo>
                  <a:pt x="230426" y="182959"/>
                  <a:pt x="230505" y="198041"/>
                  <a:pt x="223044" y="207268"/>
                </a:cubicBezTo>
                <a:close/>
                <a:moveTo>
                  <a:pt x="311944" y="173633"/>
                </a:moveTo>
                <a:lnTo>
                  <a:pt x="350044" y="221258"/>
                </a:lnTo>
                <a:cubicBezTo>
                  <a:pt x="357505" y="230584"/>
                  <a:pt x="357505" y="245666"/>
                  <a:pt x="350044" y="254893"/>
                </a:cubicBezTo>
                <a:lnTo>
                  <a:pt x="311944" y="302518"/>
                </a:lnTo>
                <a:cubicBezTo>
                  <a:pt x="304483" y="311845"/>
                  <a:pt x="292418" y="311845"/>
                  <a:pt x="285036" y="302518"/>
                </a:cubicBezTo>
                <a:cubicBezTo>
                  <a:pt x="277654" y="293191"/>
                  <a:pt x="277574" y="278110"/>
                  <a:pt x="285036" y="268883"/>
                </a:cubicBezTo>
                <a:lnTo>
                  <a:pt x="309642" y="238125"/>
                </a:lnTo>
                <a:lnTo>
                  <a:pt x="285036" y="207367"/>
                </a:lnTo>
                <a:cubicBezTo>
                  <a:pt x="277574" y="198041"/>
                  <a:pt x="277574" y="182959"/>
                  <a:pt x="285036" y="173732"/>
                </a:cubicBezTo>
                <a:cubicBezTo>
                  <a:pt x="292497" y="164505"/>
                  <a:pt x="304562" y="164405"/>
                  <a:pt x="311944" y="17373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1200" y="4546600"/>
            <a:ext cx="3149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Training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1200" y="4927600"/>
            <a:ext cx="31496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Scikit-learn for model development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318000" y="3708400"/>
            <a:ext cx="3556000" cy="2540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0" y="3911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4625" y="23812"/>
                </a:moveTo>
                <a:cubicBezTo>
                  <a:pt x="174625" y="10616"/>
                  <a:pt x="164009" y="0"/>
                  <a:pt x="150813" y="0"/>
                </a:cubicBezTo>
                <a:cubicBezTo>
                  <a:pt x="137616" y="0"/>
                  <a:pt x="127000" y="10616"/>
                  <a:pt x="127000" y="23812"/>
                </a:cubicBezTo>
                <a:lnTo>
                  <a:pt x="127000" y="63500"/>
                </a:lnTo>
                <a:cubicBezTo>
                  <a:pt x="91976" y="63500"/>
                  <a:pt x="63500" y="91976"/>
                  <a:pt x="63500" y="127000"/>
                </a:cubicBezTo>
                <a:lnTo>
                  <a:pt x="23812" y="127000"/>
                </a:lnTo>
                <a:cubicBezTo>
                  <a:pt x="10616" y="127000"/>
                  <a:pt x="0" y="137616"/>
                  <a:pt x="0" y="150813"/>
                </a:cubicBezTo>
                <a:cubicBezTo>
                  <a:pt x="0" y="164009"/>
                  <a:pt x="10616" y="174625"/>
                  <a:pt x="23812" y="174625"/>
                </a:cubicBezTo>
                <a:lnTo>
                  <a:pt x="63500" y="174625"/>
                </a:lnTo>
                <a:lnTo>
                  <a:pt x="63500" y="230188"/>
                </a:lnTo>
                <a:lnTo>
                  <a:pt x="23812" y="230188"/>
                </a:lnTo>
                <a:cubicBezTo>
                  <a:pt x="10616" y="230188"/>
                  <a:pt x="0" y="240804"/>
                  <a:pt x="0" y="254000"/>
                </a:cubicBezTo>
                <a:cubicBezTo>
                  <a:pt x="0" y="267196"/>
                  <a:pt x="10616" y="277813"/>
                  <a:pt x="23812" y="277813"/>
                </a:cubicBezTo>
                <a:lnTo>
                  <a:pt x="63500" y="277813"/>
                </a:lnTo>
                <a:lnTo>
                  <a:pt x="63500" y="333375"/>
                </a:lnTo>
                <a:lnTo>
                  <a:pt x="23812" y="333375"/>
                </a:lnTo>
                <a:cubicBezTo>
                  <a:pt x="10616" y="333375"/>
                  <a:pt x="0" y="343991"/>
                  <a:pt x="0" y="357188"/>
                </a:cubicBezTo>
                <a:cubicBezTo>
                  <a:pt x="0" y="370384"/>
                  <a:pt x="10616" y="381000"/>
                  <a:pt x="23812" y="381000"/>
                </a:cubicBezTo>
                <a:lnTo>
                  <a:pt x="63500" y="381000"/>
                </a:lnTo>
                <a:cubicBezTo>
                  <a:pt x="63500" y="416024"/>
                  <a:pt x="91976" y="444500"/>
                  <a:pt x="127000" y="444500"/>
                </a:cubicBezTo>
                <a:lnTo>
                  <a:pt x="127000" y="484187"/>
                </a:lnTo>
                <a:cubicBezTo>
                  <a:pt x="127000" y="497384"/>
                  <a:pt x="137616" y="508000"/>
                  <a:pt x="150813" y="508000"/>
                </a:cubicBezTo>
                <a:cubicBezTo>
                  <a:pt x="164009" y="508000"/>
                  <a:pt x="174625" y="497384"/>
                  <a:pt x="174625" y="484187"/>
                </a:cubicBezTo>
                <a:lnTo>
                  <a:pt x="174625" y="444500"/>
                </a:lnTo>
                <a:lnTo>
                  <a:pt x="230188" y="444500"/>
                </a:lnTo>
                <a:lnTo>
                  <a:pt x="230188" y="484187"/>
                </a:lnTo>
                <a:cubicBezTo>
                  <a:pt x="230188" y="497384"/>
                  <a:pt x="240804" y="508000"/>
                  <a:pt x="254000" y="508000"/>
                </a:cubicBezTo>
                <a:cubicBezTo>
                  <a:pt x="267196" y="508000"/>
                  <a:pt x="277813" y="497384"/>
                  <a:pt x="277813" y="484187"/>
                </a:cubicBezTo>
                <a:lnTo>
                  <a:pt x="277813" y="444500"/>
                </a:lnTo>
                <a:lnTo>
                  <a:pt x="333375" y="444500"/>
                </a:lnTo>
                <a:lnTo>
                  <a:pt x="333375" y="484187"/>
                </a:lnTo>
                <a:cubicBezTo>
                  <a:pt x="333375" y="497384"/>
                  <a:pt x="343991" y="508000"/>
                  <a:pt x="357188" y="508000"/>
                </a:cubicBezTo>
                <a:cubicBezTo>
                  <a:pt x="370384" y="508000"/>
                  <a:pt x="381000" y="497384"/>
                  <a:pt x="381000" y="484187"/>
                </a:cubicBezTo>
                <a:lnTo>
                  <a:pt x="381000" y="444500"/>
                </a:lnTo>
                <a:cubicBezTo>
                  <a:pt x="416024" y="444500"/>
                  <a:pt x="444500" y="416024"/>
                  <a:pt x="444500" y="381000"/>
                </a:cubicBezTo>
                <a:lnTo>
                  <a:pt x="484187" y="381000"/>
                </a:lnTo>
                <a:cubicBezTo>
                  <a:pt x="497384" y="381000"/>
                  <a:pt x="508000" y="370384"/>
                  <a:pt x="508000" y="357188"/>
                </a:cubicBezTo>
                <a:cubicBezTo>
                  <a:pt x="508000" y="343991"/>
                  <a:pt x="497384" y="333375"/>
                  <a:pt x="484187" y="333375"/>
                </a:cubicBezTo>
                <a:lnTo>
                  <a:pt x="444500" y="333375"/>
                </a:lnTo>
                <a:lnTo>
                  <a:pt x="444500" y="277813"/>
                </a:lnTo>
                <a:lnTo>
                  <a:pt x="484187" y="277813"/>
                </a:lnTo>
                <a:cubicBezTo>
                  <a:pt x="497384" y="277813"/>
                  <a:pt x="508000" y="267196"/>
                  <a:pt x="508000" y="254000"/>
                </a:cubicBezTo>
                <a:cubicBezTo>
                  <a:pt x="508000" y="240804"/>
                  <a:pt x="497384" y="230188"/>
                  <a:pt x="484187" y="230188"/>
                </a:cubicBezTo>
                <a:lnTo>
                  <a:pt x="444500" y="230188"/>
                </a:lnTo>
                <a:lnTo>
                  <a:pt x="444500" y="174625"/>
                </a:lnTo>
                <a:lnTo>
                  <a:pt x="484187" y="174625"/>
                </a:lnTo>
                <a:cubicBezTo>
                  <a:pt x="497384" y="174625"/>
                  <a:pt x="508000" y="164009"/>
                  <a:pt x="508000" y="150813"/>
                </a:cubicBezTo>
                <a:cubicBezTo>
                  <a:pt x="508000" y="137616"/>
                  <a:pt x="497384" y="127000"/>
                  <a:pt x="484187" y="127000"/>
                </a:cubicBezTo>
                <a:lnTo>
                  <a:pt x="444500" y="127000"/>
                </a:lnTo>
                <a:cubicBezTo>
                  <a:pt x="444500" y="91976"/>
                  <a:pt x="416024" y="63500"/>
                  <a:pt x="381000" y="63500"/>
                </a:cubicBezTo>
                <a:lnTo>
                  <a:pt x="381000" y="23812"/>
                </a:lnTo>
                <a:cubicBezTo>
                  <a:pt x="381000" y="10616"/>
                  <a:pt x="370384" y="0"/>
                  <a:pt x="357188" y="0"/>
                </a:cubicBezTo>
                <a:cubicBezTo>
                  <a:pt x="343991" y="0"/>
                  <a:pt x="333375" y="10616"/>
                  <a:pt x="333375" y="23812"/>
                </a:cubicBezTo>
                <a:lnTo>
                  <a:pt x="333375" y="63500"/>
                </a:lnTo>
                <a:lnTo>
                  <a:pt x="277813" y="63500"/>
                </a:lnTo>
                <a:lnTo>
                  <a:pt x="277813" y="23812"/>
                </a:lnTo>
                <a:cubicBezTo>
                  <a:pt x="277813" y="10616"/>
                  <a:pt x="267196" y="0"/>
                  <a:pt x="254000" y="0"/>
                </a:cubicBezTo>
                <a:cubicBezTo>
                  <a:pt x="240804" y="0"/>
                  <a:pt x="230188" y="10616"/>
                  <a:pt x="230188" y="23812"/>
                </a:cubicBezTo>
                <a:lnTo>
                  <a:pt x="230188" y="63500"/>
                </a:lnTo>
                <a:lnTo>
                  <a:pt x="174625" y="63500"/>
                </a:lnTo>
                <a:lnTo>
                  <a:pt x="174625" y="23812"/>
                </a:lnTo>
                <a:close/>
                <a:moveTo>
                  <a:pt x="158750" y="127000"/>
                </a:moveTo>
                <a:lnTo>
                  <a:pt x="349250" y="127000"/>
                </a:lnTo>
                <a:cubicBezTo>
                  <a:pt x="366812" y="127000"/>
                  <a:pt x="381000" y="141188"/>
                  <a:pt x="381000" y="158750"/>
                </a:cubicBezTo>
                <a:lnTo>
                  <a:pt x="381000" y="349250"/>
                </a:lnTo>
                <a:cubicBezTo>
                  <a:pt x="381000" y="366812"/>
                  <a:pt x="366812" y="381000"/>
                  <a:pt x="349250" y="381000"/>
                </a:cubicBezTo>
                <a:lnTo>
                  <a:pt x="158750" y="381000"/>
                </a:lnTo>
                <a:cubicBezTo>
                  <a:pt x="141188" y="381000"/>
                  <a:pt x="127000" y="366812"/>
                  <a:pt x="127000" y="349250"/>
                </a:cubicBezTo>
                <a:lnTo>
                  <a:pt x="127000" y="158750"/>
                </a:lnTo>
                <a:cubicBezTo>
                  <a:pt x="127000" y="141188"/>
                  <a:pt x="141188" y="127000"/>
                  <a:pt x="158750" y="127000"/>
                </a:cubicBezTo>
                <a:close/>
                <a:moveTo>
                  <a:pt x="174625" y="174625"/>
                </a:moveTo>
                <a:lnTo>
                  <a:pt x="174625" y="333375"/>
                </a:lnTo>
                <a:lnTo>
                  <a:pt x="333375" y="333375"/>
                </a:lnTo>
                <a:lnTo>
                  <a:pt x="333375" y="174625"/>
                </a:lnTo>
                <a:lnTo>
                  <a:pt x="174625" y="17462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21200" y="4546600"/>
            <a:ext cx="3149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Inference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21200" y="4927600"/>
            <a:ext cx="31496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 implementation on STM32 ARM Cortex-M4 with deterministic execution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128000" y="3708400"/>
            <a:ext cx="3556000" cy="2540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382000" y="3911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49250" y="0"/>
                </a:moveTo>
                <a:cubicBezTo>
                  <a:pt x="389930" y="0"/>
                  <a:pt x="428923" y="16173"/>
                  <a:pt x="457597" y="44847"/>
                </a:cubicBezTo>
                <a:lnTo>
                  <a:pt x="463054" y="50304"/>
                </a:lnTo>
                <a:cubicBezTo>
                  <a:pt x="491827" y="79077"/>
                  <a:pt x="508000" y="118070"/>
                  <a:pt x="508000" y="158651"/>
                </a:cubicBezTo>
                <a:cubicBezTo>
                  <a:pt x="508000" y="182563"/>
                  <a:pt x="502345" y="205879"/>
                  <a:pt x="491927" y="226913"/>
                </a:cubicBezTo>
                <a:cubicBezTo>
                  <a:pt x="490041" y="230584"/>
                  <a:pt x="486668" y="233362"/>
                  <a:pt x="482699" y="234553"/>
                </a:cubicBezTo>
                <a:lnTo>
                  <a:pt x="371574" y="267891"/>
                </a:lnTo>
                <a:cubicBezTo>
                  <a:pt x="367705" y="269081"/>
                  <a:pt x="365125" y="272554"/>
                  <a:pt x="365125" y="276622"/>
                </a:cubicBezTo>
                <a:cubicBezTo>
                  <a:pt x="365125" y="281682"/>
                  <a:pt x="369193" y="285750"/>
                  <a:pt x="374253" y="285750"/>
                </a:cubicBezTo>
                <a:lnTo>
                  <a:pt x="406202" y="285750"/>
                </a:lnTo>
                <a:cubicBezTo>
                  <a:pt x="420390" y="285750"/>
                  <a:pt x="427434" y="302816"/>
                  <a:pt x="417413" y="312837"/>
                </a:cubicBezTo>
                <a:lnTo>
                  <a:pt x="395188" y="335062"/>
                </a:lnTo>
                <a:cubicBezTo>
                  <a:pt x="393303" y="336947"/>
                  <a:pt x="391021" y="338237"/>
                  <a:pt x="388541" y="339030"/>
                </a:cubicBezTo>
                <a:lnTo>
                  <a:pt x="308173" y="363141"/>
                </a:lnTo>
                <a:cubicBezTo>
                  <a:pt x="304304" y="364331"/>
                  <a:pt x="301724" y="367804"/>
                  <a:pt x="301724" y="371872"/>
                </a:cubicBezTo>
                <a:cubicBezTo>
                  <a:pt x="301724" y="376932"/>
                  <a:pt x="305792" y="381000"/>
                  <a:pt x="310852" y="381000"/>
                </a:cubicBezTo>
                <a:cubicBezTo>
                  <a:pt x="323949" y="381000"/>
                  <a:pt x="329605" y="396577"/>
                  <a:pt x="318591" y="403721"/>
                </a:cubicBezTo>
                <a:cubicBezTo>
                  <a:pt x="277813" y="430113"/>
                  <a:pt x="229989" y="444500"/>
                  <a:pt x="180677" y="444500"/>
                </a:cubicBezTo>
                <a:lnTo>
                  <a:pt x="95349" y="444500"/>
                </a:lnTo>
                <a:lnTo>
                  <a:pt x="47724" y="492125"/>
                </a:lnTo>
                <a:cubicBezTo>
                  <a:pt x="38993" y="500856"/>
                  <a:pt x="24705" y="500856"/>
                  <a:pt x="15974" y="492125"/>
                </a:cubicBezTo>
                <a:cubicBezTo>
                  <a:pt x="7243" y="483394"/>
                  <a:pt x="7243" y="469106"/>
                  <a:pt x="15974" y="460375"/>
                </a:cubicBezTo>
                <a:lnTo>
                  <a:pt x="254000" y="222250"/>
                </a:lnTo>
                <a:cubicBezTo>
                  <a:pt x="262731" y="213519"/>
                  <a:pt x="262731" y="199231"/>
                  <a:pt x="254000" y="190500"/>
                </a:cubicBezTo>
                <a:cubicBezTo>
                  <a:pt x="245269" y="181769"/>
                  <a:pt x="230981" y="181769"/>
                  <a:pt x="222250" y="190500"/>
                </a:cubicBezTo>
                <a:lnTo>
                  <a:pt x="78879" y="333871"/>
                </a:lnTo>
                <a:cubicBezTo>
                  <a:pt x="73223" y="339527"/>
                  <a:pt x="63500" y="335558"/>
                  <a:pt x="63500" y="327521"/>
                </a:cubicBezTo>
                <a:cubicBezTo>
                  <a:pt x="63500" y="260152"/>
                  <a:pt x="90289" y="195560"/>
                  <a:pt x="137914" y="147935"/>
                </a:cubicBezTo>
                <a:lnTo>
                  <a:pt x="240903" y="44847"/>
                </a:lnTo>
                <a:cubicBezTo>
                  <a:pt x="269577" y="16173"/>
                  <a:pt x="308570" y="0"/>
                  <a:pt x="34925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331200" y="4546600"/>
            <a:ext cx="3149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 Framework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31200" y="4927600"/>
            <a:ext cx="31496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basic arithmetic operations needed — no TensorFlow, no libraries, minimal memory footprint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1938000" y="3708400"/>
            <a:ext cx="3810000" cy="2540000"/>
          </a:xfrm>
          <a:prstGeom prst="roundRect">
            <a:avLst>
              <a:gd name="adj" fmla="val 4000"/>
            </a:avLst>
          </a:prstGeom>
          <a:solidFill>
            <a:srgbClr val="455A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2192000" y="3911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4175" y="-9823"/>
                </a:moveTo>
                <a:cubicBezTo>
                  <a:pt x="397669" y="-1290"/>
                  <a:pt x="402658" y="14188"/>
                  <a:pt x="396535" y="27682"/>
                </a:cubicBezTo>
                <a:lnTo>
                  <a:pt x="307635" y="222250"/>
                </a:lnTo>
                <a:lnTo>
                  <a:pt x="471714" y="222250"/>
                </a:lnTo>
                <a:cubicBezTo>
                  <a:pt x="487022" y="222250"/>
                  <a:pt x="500629" y="230584"/>
                  <a:pt x="505846" y="243185"/>
                </a:cubicBezTo>
                <a:cubicBezTo>
                  <a:pt x="511062" y="255786"/>
                  <a:pt x="506639" y="269875"/>
                  <a:pt x="494960" y="278408"/>
                </a:cubicBezTo>
                <a:lnTo>
                  <a:pt x="168388" y="516533"/>
                </a:lnTo>
                <a:cubicBezTo>
                  <a:pt x="155575" y="525859"/>
                  <a:pt x="137319" y="526355"/>
                  <a:pt x="123825" y="517823"/>
                </a:cubicBezTo>
                <a:cubicBezTo>
                  <a:pt x="110331" y="509290"/>
                  <a:pt x="105342" y="493812"/>
                  <a:pt x="111465" y="480318"/>
                </a:cubicBezTo>
                <a:lnTo>
                  <a:pt x="200365" y="285750"/>
                </a:lnTo>
                <a:lnTo>
                  <a:pt x="36286" y="285750"/>
                </a:lnTo>
                <a:cubicBezTo>
                  <a:pt x="20978" y="285750"/>
                  <a:pt x="7371" y="277416"/>
                  <a:pt x="2154" y="264815"/>
                </a:cubicBezTo>
                <a:cubicBezTo>
                  <a:pt x="-3062" y="252214"/>
                  <a:pt x="1361" y="238125"/>
                  <a:pt x="13040" y="229592"/>
                </a:cubicBezTo>
                <a:lnTo>
                  <a:pt x="339612" y="-8533"/>
                </a:lnTo>
                <a:cubicBezTo>
                  <a:pt x="352425" y="-17859"/>
                  <a:pt x="370681" y="-18355"/>
                  <a:pt x="384175" y="-982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2141200" y="4546600"/>
            <a:ext cx="3403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Edge AI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141200" y="4927600"/>
            <a:ext cx="34036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bytes of RAM for weights, sub-millisecond inference — ideal for battery-powered IoT devices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08000" y="6553200"/>
            <a:ext cx="15240000" cy="711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62000" y="6553200"/>
            <a:ext cx="1473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</a:t>
            </a: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 in Python → Extract coefficients → Hard-code in C → Compile and flash to STM32 → Run inference at the edge without any external dependencies.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Results &amp; Deployment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System Output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8000" y="9906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 Processing Pipeline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8000" y="1397000"/>
            <a:ext cx="2159000" cy="6604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000" y="152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135890" y="0"/>
                  <a:pt x="81280" y="34131"/>
                  <a:pt x="81280" y="76200"/>
                </a:cubicBezTo>
                <a:lnTo>
                  <a:pt x="81280" y="206931"/>
                </a:lnTo>
                <a:cubicBezTo>
                  <a:pt x="43815" y="227806"/>
                  <a:pt x="20320" y="258286"/>
                  <a:pt x="20320" y="292100"/>
                </a:cubicBezTo>
                <a:cubicBezTo>
                  <a:pt x="20320" y="355203"/>
                  <a:pt x="102235" y="406400"/>
                  <a:pt x="203200" y="406400"/>
                </a:cubicBezTo>
                <a:cubicBezTo>
                  <a:pt x="304165" y="406400"/>
                  <a:pt x="386080" y="355203"/>
                  <a:pt x="386080" y="292100"/>
                </a:cubicBezTo>
                <a:cubicBezTo>
                  <a:pt x="386080" y="258286"/>
                  <a:pt x="362585" y="227806"/>
                  <a:pt x="325120" y="206931"/>
                </a:cubicBezTo>
                <a:lnTo>
                  <a:pt x="325120" y="76200"/>
                </a:lnTo>
                <a:cubicBezTo>
                  <a:pt x="325120" y="34131"/>
                  <a:pt x="270510" y="0"/>
                  <a:pt x="203200" y="0"/>
                </a:cubicBezTo>
                <a:close/>
                <a:moveTo>
                  <a:pt x="284480" y="292100"/>
                </a:moveTo>
                <a:cubicBezTo>
                  <a:pt x="284480" y="320119"/>
                  <a:pt x="248031" y="342900"/>
                  <a:pt x="203200" y="342900"/>
                </a:cubicBezTo>
                <a:cubicBezTo>
                  <a:pt x="158369" y="342900"/>
                  <a:pt x="121920" y="320119"/>
                  <a:pt x="121920" y="292100"/>
                </a:cubicBezTo>
                <a:cubicBezTo>
                  <a:pt x="121920" y="270748"/>
                  <a:pt x="142875" y="252492"/>
                  <a:pt x="172720" y="245031"/>
                </a:cubicBezTo>
                <a:lnTo>
                  <a:pt x="172720" y="171450"/>
                </a:lnTo>
                <a:cubicBezTo>
                  <a:pt x="172720" y="160893"/>
                  <a:pt x="186309" y="152400"/>
                  <a:pt x="203200" y="152400"/>
                </a:cubicBezTo>
                <a:cubicBezTo>
                  <a:pt x="220091" y="152400"/>
                  <a:pt x="233680" y="160893"/>
                  <a:pt x="233680" y="171450"/>
                </a:cubicBezTo>
                <a:lnTo>
                  <a:pt x="233680" y="245031"/>
                </a:lnTo>
                <a:cubicBezTo>
                  <a:pt x="263525" y="252571"/>
                  <a:pt x="284480" y="270828"/>
                  <a:pt x="284480" y="2921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2200" y="1397000"/>
            <a:ext cx="14732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68600" y="1600200"/>
            <a:ext cx="3048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75000" y="1397000"/>
            <a:ext cx="2159000" cy="660400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02000" y="152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50800"/>
                </a:moveTo>
                <a:cubicBezTo>
                  <a:pt x="15161" y="50800"/>
                  <a:pt x="5874" y="56991"/>
                  <a:pt x="1905" y="66516"/>
                </a:cubicBezTo>
                <a:cubicBezTo>
                  <a:pt x="-2064" y="76041"/>
                  <a:pt x="159" y="86916"/>
                  <a:pt x="7461" y="94139"/>
                </a:cubicBezTo>
                <a:lnTo>
                  <a:pt x="152400" y="239157"/>
                </a:lnTo>
                <a:lnTo>
                  <a:pt x="152400" y="330200"/>
                </a:lnTo>
                <a:cubicBezTo>
                  <a:pt x="152400" y="336947"/>
                  <a:pt x="155099" y="343376"/>
                  <a:pt x="159861" y="348139"/>
                </a:cubicBezTo>
                <a:lnTo>
                  <a:pt x="210661" y="398939"/>
                </a:lnTo>
                <a:cubicBezTo>
                  <a:pt x="217964" y="406241"/>
                  <a:pt x="228838" y="408384"/>
                  <a:pt x="238363" y="404416"/>
                </a:cubicBezTo>
                <a:cubicBezTo>
                  <a:pt x="247888" y="400447"/>
                  <a:pt x="254000" y="391239"/>
                  <a:pt x="254000" y="381000"/>
                </a:cubicBezTo>
                <a:lnTo>
                  <a:pt x="254000" y="239157"/>
                </a:lnTo>
                <a:lnTo>
                  <a:pt x="398939" y="94218"/>
                </a:lnTo>
                <a:cubicBezTo>
                  <a:pt x="406241" y="86916"/>
                  <a:pt x="408384" y="76041"/>
                  <a:pt x="404416" y="66516"/>
                </a:cubicBezTo>
                <a:cubicBezTo>
                  <a:pt x="400447" y="56991"/>
                  <a:pt x="391239" y="50800"/>
                  <a:pt x="381000" y="50800"/>
                </a:cubicBezTo>
                <a:lnTo>
                  <a:pt x="25400" y="508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59200" y="1397000"/>
            <a:ext cx="14732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35600" y="1600200"/>
            <a:ext cx="3048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842000" y="1397000"/>
            <a:ext cx="2159000" cy="6604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69000" y="152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8600" y="25400"/>
                </a:moveTo>
                <a:cubicBezTo>
                  <a:pt x="228600" y="39449"/>
                  <a:pt x="239951" y="50800"/>
                  <a:pt x="254000" y="50800"/>
                </a:cubicBezTo>
                <a:lnTo>
                  <a:pt x="285750" y="50800"/>
                </a:lnTo>
                <a:cubicBezTo>
                  <a:pt x="296307" y="50800"/>
                  <a:pt x="304800" y="59293"/>
                  <a:pt x="304800" y="69850"/>
                </a:cubicBezTo>
                <a:cubicBezTo>
                  <a:pt x="304800" y="80407"/>
                  <a:pt x="296307" y="88900"/>
                  <a:pt x="285750" y="88900"/>
                </a:cubicBezTo>
                <a:lnTo>
                  <a:pt x="25400" y="88900"/>
                </a:lnTo>
                <a:cubicBezTo>
                  <a:pt x="11351" y="88900"/>
                  <a:pt x="0" y="100251"/>
                  <a:pt x="0" y="114300"/>
                </a:cubicBezTo>
                <a:cubicBezTo>
                  <a:pt x="0" y="128349"/>
                  <a:pt x="11351" y="139700"/>
                  <a:pt x="25400" y="139700"/>
                </a:cubicBezTo>
                <a:lnTo>
                  <a:pt x="285750" y="139700"/>
                </a:lnTo>
                <a:cubicBezTo>
                  <a:pt x="324326" y="139700"/>
                  <a:pt x="355600" y="108426"/>
                  <a:pt x="355600" y="69850"/>
                </a:cubicBezTo>
                <a:cubicBezTo>
                  <a:pt x="355600" y="31274"/>
                  <a:pt x="324326" y="0"/>
                  <a:pt x="285750" y="0"/>
                </a:cubicBezTo>
                <a:lnTo>
                  <a:pt x="254000" y="0"/>
                </a:lnTo>
                <a:cubicBezTo>
                  <a:pt x="239951" y="0"/>
                  <a:pt x="228600" y="11351"/>
                  <a:pt x="228600" y="25400"/>
                </a:cubicBezTo>
                <a:close/>
                <a:moveTo>
                  <a:pt x="279400" y="304800"/>
                </a:moveTo>
                <a:cubicBezTo>
                  <a:pt x="279400" y="318849"/>
                  <a:pt x="290751" y="330200"/>
                  <a:pt x="304800" y="330200"/>
                </a:cubicBezTo>
                <a:lnTo>
                  <a:pt x="330200" y="330200"/>
                </a:lnTo>
                <a:cubicBezTo>
                  <a:pt x="372269" y="330200"/>
                  <a:pt x="406400" y="296069"/>
                  <a:pt x="406400" y="254000"/>
                </a:cubicBezTo>
                <a:cubicBezTo>
                  <a:pt x="406400" y="211931"/>
                  <a:pt x="372269" y="177800"/>
                  <a:pt x="330200" y="177800"/>
                </a:cubicBezTo>
                <a:lnTo>
                  <a:pt x="25400" y="177800"/>
                </a:lnTo>
                <a:cubicBezTo>
                  <a:pt x="11351" y="177800"/>
                  <a:pt x="0" y="189151"/>
                  <a:pt x="0" y="203200"/>
                </a:cubicBezTo>
                <a:cubicBezTo>
                  <a:pt x="0" y="217249"/>
                  <a:pt x="11351" y="228600"/>
                  <a:pt x="25400" y="228600"/>
                </a:cubicBezTo>
                <a:lnTo>
                  <a:pt x="330200" y="228600"/>
                </a:lnTo>
                <a:cubicBezTo>
                  <a:pt x="344249" y="228600"/>
                  <a:pt x="355600" y="239951"/>
                  <a:pt x="355600" y="254000"/>
                </a:cubicBezTo>
                <a:cubicBezTo>
                  <a:pt x="355600" y="268049"/>
                  <a:pt x="344249" y="279400"/>
                  <a:pt x="330200" y="279400"/>
                </a:cubicBezTo>
                <a:lnTo>
                  <a:pt x="304800" y="279400"/>
                </a:lnTo>
                <a:cubicBezTo>
                  <a:pt x="290751" y="279400"/>
                  <a:pt x="279400" y="290751"/>
                  <a:pt x="279400" y="304800"/>
                </a:cubicBezTo>
                <a:close/>
                <a:moveTo>
                  <a:pt x="101600" y="406400"/>
                </a:moveTo>
                <a:lnTo>
                  <a:pt x="133350" y="406400"/>
                </a:lnTo>
                <a:cubicBezTo>
                  <a:pt x="171926" y="406400"/>
                  <a:pt x="203200" y="375126"/>
                  <a:pt x="203200" y="336550"/>
                </a:cubicBezTo>
                <a:cubicBezTo>
                  <a:pt x="203200" y="297974"/>
                  <a:pt x="171926" y="266700"/>
                  <a:pt x="133350" y="266700"/>
                </a:cubicBezTo>
                <a:lnTo>
                  <a:pt x="25400" y="266700"/>
                </a:lnTo>
                <a:cubicBezTo>
                  <a:pt x="11351" y="266700"/>
                  <a:pt x="0" y="278051"/>
                  <a:pt x="0" y="292100"/>
                </a:cubicBezTo>
                <a:cubicBezTo>
                  <a:pt x="0" y="306149"/>
                  <a:pt x="11351" y="317500"/>
                  <a:pt x="25400" y="317500"/>
                </a:cubicBezTo>
                <a:lnTo>
                  <a:pt x="133350" y="317500"/>
                </a:lnTo>
                <a:cubicBezTo>
                  <a:pt x="143907" y="317500"/>
                  <a:pt x="152400" y="325993"/>
                  <a:pt x="152400" y="336550"/>
                </a:cubicBezTo>
                <a:cubicBezTo>
                  <a:pt x="152400" y="347107"/>
                  <a:pt x="143907" y="355600"/>
                  <a:pt x="133350" y="355600"/>
                </a:cubicBezTo>
                <a:lnTo>
                  <a:pt x="101600" y="355600"/>
                </a:lnTo>
                <a:cubicBezTo>
                  <a:pt x="87551" y="355600"/>
                  <a:pt x="76200" y="366951"/>
                  <a:pt x="76200" y="381000"/>
                </a:cubicBezTo>
                <a:cubicBezTo>
                  <a:pt x="76200" y="395049"/>
                  <a:pt x="87551" y="406400"/>
                  <a:pt x="101600" y="4064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26200" y="1397000"/>
            <a:ext cx="14732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02600" y="1600200"/>
            <a:ext cx="3048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09000" y="1397000"/>
            <a:ext cx="2159000" cy="6604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36000" y="152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093200" y="1397000"/>
            <a:ext cx="14732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769600" y="1600200"/>
            <a:ext cx="3048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176000" y="1397000"/>
            <a:ext cx="2159000" cy="660400"/>
          </a:xfrm>
          <a:prstGeom prst="roundRect">
            <a:avLst>
              <a:gd name="adj" fmla="val 4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303000" y="152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187144" y="0"/>
                  <a:pt x="174171" y="11351"/>
                  <a:pt x="174171" y="25400"/>
                </a:cubicBezTo>
                <a:lnTo>
                  <a:pt x="174171" y="27940"/>
                </a:lnTo>
                <a:cubicBezTo>
                  <a:pt x="107950" y="39688"/>
                  <a:pt x="58057" y="90964"/>
                  <a:pt x="58057" y="152400"/>
                </a:cubicBezTo>
                <a:lnTo>
                  <a:pt x="58057" y="169624"/>
                </a:lnTo>
                <a:cubicBezTo>
                  <a:pt x="58057" y="207804"/>
                  <a:pt x="43180" y="244872"/>
                  <a:pt x="15966" y="274717"/>
                </a:cubicBezTo>
                <a:lnTo>
                  <a:pt x="7076" y="284401"/>
                </a:lnTo>
                <a:cubicBezTo>
                  <a:pt x="2449" y="289401"/>
                  <a:pt x="0" y="295592"/>
                  <a:pt x="0" y="302022"/>
                </a:cubicBezTo>
                <a:cubicBezTo>
                  <a:pt x="0" y="317579"/>
                  <a:pt x="14424" y="330200"/>
                  <a:pt x="32204" y="330200"/>
                </a:cubicBezTo>
                <a:lnTo>
                  <a:pt x="374106" y="330200"/>
                </a:lnTo>
                <a:cubicBezTo>
                  <a:pt x="391886" y="330200"/>
                  <a:pt x="406309" y="317579"/>
                  <a:pt x="406309" y="302022"/>
                </a:cubicBezTo>
                <a:cubicBezTo>
                  <a:pt x="406309" y="295592"/>
                  <a:pt x="403860" y="289401"/>
                  <a:pt x="399234" y="284401"/>
                </a:cubicBezTo>
                <a:lnTo>
                  <a:pt x="390344" y="274717"/>
                </a:lnTo>
                <a:cubicBezTo>
                  <a:pt x="363220" y="244872"/>
                  <a:pt x="348343" y="207804"/>
                  <a:pt x="348343" y="169624"/>
                </a:cubicBezTo>
                <a:lnTo>
                  <a:pt x="348343" y="152400"/>
                </a:lnTo>
                <a:cubicBezTo>
                  <a:pt x="348343" y="90964"/>
                  <a:pt x="298450" y="39688"/>
                  <a:pt x="232229" y="27940"/>
                </a:cubicBezTo>
                <a:lnTo>
                  <a:pt x="232229" y="25400"/>
                </a:lnTo>
                <a:cubicBezTo>
                  <a:pt x="232229" y="11351"/>
                  <a:pt x="219256" y="0"/>
                  <a:pt x="203200" y="0"/>
                </a:cubicBezTo>
                <a:close/>
                <a:moveTo>
                  <a:pt x="146957" y="368300"/>
                </a:moveTo>
                <a:cubicBezTo>
                  <a:pt x="153398" y="390208"/>
                  <a:pt x="176167" y="406400"/>
                  <a:pt x="203200" y="406400"/>
                </a:cubicBezTo>
                <a:cubicBezTo>
                  <a:pt x="230233" y="406400"/>
                  <a:pt x="253002" y="390208"/>
                  <a:pt x="259443" y="368300"/>
                </a:cubicBezTo>
                <a:lnTo>
                  <a:pt x="146957" y="3683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760200" y="1397000"/>
            <a:ext cx="14732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3436600" y="1600200"/>
            <a:ext cx="3048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3843000" y="1397000"/>
            <a:ext cx="1905000" cy="660400"/>
          </a:xfrm>
          <a:prstGeom prst="roundRect">
            <a:avLst>
              <a:gd name="adj" fmla="val 4000"/>
            </a:avLst>
          </a:prstGeom>
          <a:solidFill>
            <a:srgbClr val="455A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3970000" y="152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461" y="94139"/>
                </a:moveTo>
                <a:cubicBezTo>
                  <a:pt x="-2461" y="84217"/>
                  <a:pt x="-2461" y="68104"/>
                  <a:pt x="7461" y="58182"/>
                </a:cubicBezTo>
                <a:cubicBezTo>
                  <a:pt x="17383" y="48260"/>
                  <a:pt x="33496" y="48260"/>
                  <a:pt x="43418" y="58182"/>
                </a:cubicBezTo>
                <a:lnTo>
                  <a:pt x="170418" y="185182"/>
                </a:lnTo>
                <a:cubicBezTo>
                  <a:pt x="180340" y="195104"/>
                  <a:pt x="180340" y="211217"/>
                  <a:pt x="170418" y="221139"/>
                </a:cubicBezTo>
                <a:lnTo>
                  <a:pt x="43418" y="348139"/>
                </a:lnTo>
                <a:cubicBezTo>
                  <a:pt x="33496" y="358061"/>
                  <a:pt x="17383" y="358061"/>
                  <a:pt x="7461" y="348139"/>
                </a:cubicBezTo>
                <a:cubicBezTo>
                  <a:pt x="-2461" y="338217"/>
                  <a:pt x="-2461" y="322104"/>
                  <a:pt x="7461" y="312182"/>
                </a:cubicBezTo>
                <a:lnTo>
                  <a:pt x="116443" y="203200"/>
                </a:lnTo>
                <a:lnTo>
                  <a:pt x="7461" y="94139"/>
                </a:lnTo>
                <a:close/>
                <a:moveTo>
                  <a:pt x="177800" y="304800"/>
                </a:moveTo>
                <a:lnTo>
                  <a:pt x="381000" y="304800"/>
                </a:lnTo>
                <a:cubicBezTo>
                  <a:pt x="395049" y="304800"/>
                  <a:pt x="406400" y="316151"/>
                  <a:pt x="406400" y="330200"/>
                </a:cubicBezTo>
                <a:cubicBezTo>
                  <a:pt x="406400" y="344249"/>
                  <a:pt x="395049" y="355600"/>
                  <a:pt x="381000" y="355600"/>
                </a:cubicBezTo>
                <a:lnTo>
                  <a:pt x="177800" y="355600"/>
                </a:lnTo>
                <a:cubicBezTo>
                  <a:pt x="163751" y="355600"/>
                  <a:pt x="152400" y="344249"/>
                  <a:pt x="152400" y="330200"/>
                </a:cubicBezTo>
                <a:cubicBezTo>
                  <a:pt x="152400" y="316151"/>
                  <a:pt x="163751" y="304800"/>
                  <a:pt x="177800" y="3048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4427200" y="1397000"/>
            <a:ext cx="12192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8000" y="23622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UART Output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08000" y="2768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08000" y="2921000"/>
            <a:ext cx="7366000" cy="4318000"/>
          </a:xfrm>
          <a:prstGeom prst="roundRect">
            <a:avLst>
              <a:gd name="adj" fmla="val 4000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08000" y="2921000"/>
            <a:ext cx="7366000" cy="406400"/>
          </a:xfrm>
          <a:prstGeom prst="roundRect">
            <a:avLst>
              <a:gd name="adj" fmla="val 4000"/>
            </a:avLst>
          </a:prstGeom>
          <a:solidFill>
            <a:srgbClr val="344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1200" y="2921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Terminal — COM3 (115200 baud)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264400" y="3022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111667"/>
                  <a:pt x="14227" y="99219"/>
                  <a:pt x="31750" y="99219"/>
                </a:cubicBezTo>
                <a:cubicBezTo>
                  <a:pt x="49273" y="99219"/>
                  <a:pt x="63500" y="111667"/>
                  <a:pt x="63500" y="127000"/>
                </a:cubicBezTo>
                <a:cubicBezTo>
                  <a:pt x="63500" y="142333"/>
                  <a:pt x="49273" y="154781"/>
                  <a:pt x="31750" y="154781"/>
                </a:cubicBezTo>
                <a:cubicBezTo>
                  <a:pt x="14227" y="154781"/>
                  <a:pt x="0" y="142333"/>
                  <a:pt x="0" y="127000"/>
                </a:cubicBezTo>
                <a:close/>
                <a:moveTo>
                  <a:pt x="95250" y="127000"/>
                </a:moveTo>
                <a:cubicBezTo>
                  <a:pt x="95250" y="111667"/>
                  <a:pt x="109477" y="99219"/>
                  <a:pt x="127000" y="99219"/>
                </a:cubicBezTo>
                <a:cubicBezTo>
                  <a:pt x="144523" y="99219"/>
                  <a:pt x="158750" y="111667"/>
                  <a:pt x="158750" y="127000"/>
                </a:cubicBezTo>
                <a:cubicBezTo>
                  <a:pt x="158750" y="142333"/>
                  <a:pt x="144523" y="154781"/>
                  <a:pt x="127000" y="154781"/>
                </a:cubicBezTo>
                <a:cubicBezTo>
                  <a:pt x="109477" y="154781"/>
                  <a:pt x="95250" y="142333"/>
                  <a:pt x="95250" y="127000"/>
                </a:cubicBezTo>
                <a:close/>
                <a:moveTo>
                  <a:pt x="222250" y="99219"/>
                </a:moveTo>
                <a:cubicBezTo>
                  <a:pt x="239773" y="99219"/>
                  <a:pt x="254000" y="111667"/>
                  <a:pt x="254000" y="127000"/>
                </a:cubicBezTo>
                <a:cubicBezTo>
                  <a:pt x="254000" y="142333"/>
                  <a:pt x="239773" y="154781"/>
                  <a:pt x="222250" y="154781"/>
                </a:cubicBezTo>
                <a:cubicBezTo>
                  <a:pt x="204727" y="154781"/>
                  <a:pt x="190500" y="142333"/>
                  <a:pt x="190500" y="127000"/>
                </a:cubicBezTo>
                <a:cubicBezTo>
                  <a:pt x="190500" y="111667"/>
                  <a:pt x="204727" y="99219"/>
                  <a:pt x="222250" y="99219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1200" y="3505200"/>
            <a:ext cx="69596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[10:00:01]</a:t>
            </a:r>
            <a:r>
              <a:rPr lang="en-US" sz="1400" dirty="0">
                <a:solidFill>
                  <a:srgbClr val="00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 initialized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[10:00:02]</a:t>
            </a:r>
            <a:r>
              <a:rPr lang="en-US" sz="1400" dirty="0">
                <a:solidFill>
                  <a:srgbClr val="00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Scheduler started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[10:00:05]</a:t>
            </a:r>
            <a:r>
              <a:rPr lang="en-US" sz="1400" dirty="0">
                <a:solidFill>
                  <a:srgbClr val="00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==================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[10:00:05]</a:t>
            </a:r>
            <a:r>
              <a:rPr lang="en-US" sz="1400" dirty="0">
                <a:solidFill>
                  <a:srgbClr val="00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Temperature: 28 C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[10:00:05]</a:t>
            </a:r>
            <a:r>
              <a:rPr lang="en-US" sz="1400" dirty="0">
                <a:solidFill>
                  <a:srgbClr val="00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Pressure    : 1013 hPa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[10:00:05]</a:t>
            </a:r>
            <a:r>
              <a:rPr lang="en-US" sz="1400" dirty="0">
                <a:solidFill>
                  <a:srgbClr val="00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PM2.5        : 63 ug/m3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[10:00:05]</a:t>
            </a:r>
            <a:r>
              <a:rPr lang="en-US" sz="1400" dirty="0">
                <a:solidFill>
                  <a:srgbClr val="00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AQI             : 87 (Moderate)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[10:00:05]</a:t>
            </a:r>
            <a:r>
              <a:rPr lang="en-US" sz="1400" dirty="0">
                <a:solidFill>
                  <a:srgbClr val="00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Prediction : 69 ug/m3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[10:00:05]</a:t>
            </a:r>
            <a:r>
              <a:rPr lang="en-US" sz="1400" dirty="0">
                <a:solidFill>
                  <a:srgbClr val="00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Alarm         : OFF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[10:00:05]</a:t>
            </a:r>
            <a:r>
              <a:rPr lang="en-US" sz="1400" dirty="0">
                <a:solidFill>
                  <a:srgbClr val="00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==================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382000" y="2921000"/>
            <a:ext cx="7366000" cy="4318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585200" y="3073400"/>
            <a:ext cx="6959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Summary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585200" y="3479800"/>
            <a:ext cx="69596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585200" y="3632200"/>
            <a:ext cx="6959600" cy="345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processed in milliseconds on STM32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Pipeline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→ AQI → ML → Alarm → UART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Reporting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state every cycle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and alarm for awareness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Results &amp; Deployment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8000" y="1041400"/>
            <a:ext cx="3556000" cy="2032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1200" y="1219200"/>
            <a:ext cx="406400" cy="406400"/>
          </a:xfrm>
          <a:prstGeom prst="ellipse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19200" y="1219200"/>
            <a:ext cx="2641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Sensors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1200" y="1727200"/>
            <a:ext cx="3149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mock data with BME280 and PMS5003 physical sensors for real-world deployment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8000" y="1041400"/>
            <a:ext cx="3556000" cy="2032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21200" y="1219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76200"/>
                </a:moveTo>
                <a:lnTo>
                  <a:pt x="355600" y="279400"/>
                </a:lnTo>
                <a:lnTo>
                  <a:pt x="50800" y="279400"/>
                </a:lnTo>
                <a:lnTo>
                  <a:pt x="50800" y="76200"/>
                </a:lnTo>
                <a:lnTo>
                  <a:pt x="355600" y="76200"/>
                </a:lnTo>
                <a:close/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279400"/>
                </a:lnTo>
                <a:cubicBezTo>
                  <a:pt x="0" y="307419"/>
                  <a:pt x="22781" y="330200"/>
                  <a:pt x="50800" y="330200"/>
                </a:cubicBezTo>
                <a:lnTo>
                  <a:pt x="165100" y="330200"/>
                </a:lnTo>
                <a:lnTo>
                  <a:pt x="15240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311150" y="406400"/>
                </a:lnTo>
                <a:cubicBezTo>
                  <a:pt x="321707" y="406400"/>
                  <a:pt x="330200" y="397907"/>
                  <a:pt x="330200" y="387350"/>
                </a:cubicBezTo>
                <a:cubicBezTo>
                  <a:pt x="330200" y="376793"/>
                  <a:pt x="321707" y="368300"/>
                  <a:pt x="311150" y="368300"/>
                </a:cubicBezTo>
                <a:lnTo>
                  <a:pt x="254000" y="368300"/>
                </a:lnTo>
                <a:lnTo>
                  <a:pt x="241300" y="330200"/>
                </a:lnTo>
                <a:lnTo>
                  <a:pt x="355600" y="330200"/>
                </a:lnTo>
                <a:cubicBezTo>
                  <a:pt x="383619" y="330200"/>
                  <a:pt x="406400" y="307419"/>
                  <a:pt x="406400" y="279400"/>
                </a:cubicBezTo>
                <a:lnTo>
                  <a:pt x="406400" y="76200"/>
                </a:lnTo>
                <a:cubicBezTo>
                  <a:pt x="406400" y="48181"/>
                  <a:pt x="383619" y="25400"/>
                  <a:pt x="355600" y="25400"/>
                </a:cubicBezTo>
                <a:lnTo>
                  <a:pt x="50800" y="25400"/>
                </a:lnTo>
                <a:close/>
              </a:path>
            </a:pathLst>
          </a:cu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219200"/>
            <a:ext cx="2641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1200" y="1727200"/>
            <a:ext cx="3149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16x2 character or TFT LCD for local real-time data visualization without a PC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0" y="1041400"/>
            <a:ext cx="3556000" cy="2032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31200" y="1219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50800"/>
                </a:moveTo>
                <a:cubicBezTo>
                  <a:pt x="406400" y="22781"/>
                  <a:pt x="376026" y="0"/>
                  <a:pt x="338667" y="0"/>
                </a:cubicBezTo>
                <a:lnTo>
                  <a:pt x="132609" y="0"/>
                </a:lnTo>
                <a:cubicBezTo>
                  <a:pt x="114618" y="0"/>
                  <a:pt x="97367" y="5318"/>
                  <a:pt x="84667" y="14843"/>
                </a:cubicBezTo>
                <a:lnTo>
                  <a:pt x="19791" y="63500"/>
                </a:lnTo>
                <a:cubicBezTo>
                  <a:pt x="7091" y="73025"/>
                  <a:pt x="0" y="85963"/>
                  <a:pt x="0" y="99457"/>
                </a:cubicBezTo>
                <a:lnTo>
                  <a:pt x="0" y="355600"/>
                </a:lnTo>
                <a:cubicBezTo>
                  <a:pt x="0" y="383619"/>
                  <a:pt x="30374" y="406400"/>
                  <a:pt x="67733" y="406400"/>
                </a:cubicBezTo>
                <a:lnTo>
                  <a:pt x="338667" y="406400"/>
                </a:lnTo>
                <a:cubicBezTo>
                  <a:pt x="376026" y="406400"/>
                  <a:pt x="406400" y="383619"/>
                  <a:pt x="406400" y="355600"/>
                </a:cubicBezTo>
                <a:lnTo>
                  <a:pt x="406400" y="50800"/>
                </a:lnTo>
                <a:close/>
                <a:moveTo>
                  <a:pt x="169333" y="69850"/>
                </a:moveTo>
                <a:lnTo>
                  <a:pt x="169333" y="107950"/>
                </a:lnTo>
                <a:cubicBezTo>
                  <a:pt x="169333" y="118507"/>
                  <a:pt x="158009" y="127000"/>
                  <a:pt x="143933" y="127000"/>
                </a:cubicBezTo>
                <a:cubicBezTo>
                  <a:pt x="129858" y="127000"/>
                  <a:pt x="118533" y="118507"/>
                  <a:pt x="118533" y="107950"/>
                </a:cubicBezTo>
                <a:lnTo>
                  <a:pt x="118533" y="69850"/>
                </a:lnTo>
                <a:cubicBezTo>
                  <a:pt x="118533" y="59293"/>
                  <a:pt x="129858" y="50800"/>
                  <a:pt x="143933" y="50800"/>
                </a:cubicBezTo>
                <a:cubicBezTo>
                  <a:pt x="158009" y="50800"/>
                  <a:pt x="169333" y="59293"/>
                  <a:pt x="169333" y="69850"/>
                </a:cubicBezTo>
                <a:close/>
                <a:moveTo>
                  <a:pt x="262467" y="69850"/>
                </a:moveTo>
                <a:lnTo>
                  <a:pt x="262467" y="107950"/>
                </a:lnTo>
                <a:cubicBezTo>
                  <a:pt x="262467" y="118507"/>
                  <a:pt x="251142" y="127000"/>
                  <a:pt x="237067" y="127000"/>
                </a:cubicBezTo>
                <a:cubicBezTo>
                  <a:pt x="222991" y="127000"/>
                  <a:pt x="211667" y="118507"/>
                  <a:pt x="211667" y="107950"/>
                </a:cubicBezTo>
                <a:lnTo>
                  <a:pt x="211667" y="69850"/>
                </a:lnTo>
                <a:cubicBezTo>
                  <a:pt x="211667" y="59293"/>
                  <a:pt x="222991" y="50800"/>
                  <a:pt x="237067" y="50800"/>
                </a:cubicBezTo>
                <a:cubicBezTo>
                  <a:pt x="251142" y="50800"/>
                  <a:pt x="262467" y="59293"/>
                  <a:pt x="262467" y="69850"/>
                </a:cubicBezTo>
                <a:close/>
                <a:moveTo>
                  <a:pt x="355600" y="69850"/>
                </a:moveTo>
                <a:lnTo>
                  <a:pt x="355600" y="107950"/>
                </a:lnTo>
                <a:cubicBezTo>
                  <a:pt x="355600" y="118507"/>
                  <a:pt x="344276" y="127000"/>
                  <a:pt x="330200" y="127000"/>
                </a:cubicBezTo>
                <a:cubicBezTo>
                  <a:pt x="316124" y="127000"/>
                  <a:pt x="304800" y="118507"/>
                  <a:pt x="304800" y="107950"/>
                </a:cubicBezTo>
                <a:lnTo>
                  <a:pt x="304800" y="69850"/>
                </a:lnTo>
                <a:cubicBezTo>
                  <a:pt x="304800" y="59293"/>
                  <a:pt x="316124" y="50800"/>
                  <a:pt x="330200" y="50800"/>
                </a:cubicBezTo>
                <a:cubicBezTo>
                  <a:pt x="344276" y="50800"/>
                  <a:pt x="355600" y="59293"/>
                  <a:pt x="355600" y="69850"/>
                </a:cubicBezTo>
                <a:close/>
              </a:path>
            </a:pathLst>
          </a:cu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39200" y="1219200"/>
            <a:ext cx="2641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Card Logging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1200" y="1727200"/>
            <a:ext cx="3149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historical data locally for long-term trend analysis and offline review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1938000" y="1041400"/>
            <a:ext cx="3810000" cy="2032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2141200" y="1219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76200"/>
                </a:moveTo>
                <a:cubicBezTo>
                  <a:pt x="139065" y="76200"/>
                  <a:pt x="80998" y="104775"/>
                  <a:pt x="38312" y="151289"/>
                </a:cubicBezTo>
                <a:cubicBezTo>
                  <a:pt x="29351" y="161052"/>
                  <a:pt x="15028" y="160814"/>
                  <a:pt x="6421" y="150733"/>
                </a:cubicBezTo>
                <a:cubicBezTo>
                  <a:pt x="-2187" y="140653"/>
                  <a:pt x="-2046" y="124539"/>
                  <a:pt x="6914" y="114856"/>
                </a:cubicBezTo>
                <a:cubicBezTo>
                  <a:pt x="57644" y="59452"/>
                  <a:pt x="126929" y="25400"/>
                  <a:pt x="203200" y="25400"/>
                </a:cubicBezTo>
                <a:cubicBezTo>
                  <a:pt x="279471" y="25400"/>
                  <a:pt x="348756" y="59452"/>
                  <a:pt x="399556" y="114856"/>
                </a:cubicBezTo>
                <a:cubicBezTo>
                  <a:pt x="408517" y="124619"/>
                  <a:pt x="408728" y="140732"/>
                  <a:pt x="400050" y="150733"/>
                </a:cubicBezTo>
                <a:cubicBezTo>
                  <a:pt x="391372" y="160734"/>
                  <a:pt x="377049" y="161052"/>
                  <a:pt x="368159" y="151289"/>
                </a:cubicBezTo>
                <a:cubicBezTo>
                  <a:pt x="325402" y="104775"/>
                  <a:pt x="267335" y="76200"/>
                  <a:pt x="203200" y="76200"/>
                </a:cubicBezTo>
                <a:close/>
                <a:moveTo>
                  <a:pt x="169333" y="342900"/>
                </a:moveTo>
                <a:cubicBezTo>
                  <a:pt x="169333" y="321872"/>
                  <a:pt x="184508" y="304800"/>
                  <a:pt x="203200" y="304800"/>
                </a:cubicBezTo>
                <a:cubicBezTo>
                  <a:pt x="221892" y="304800"/>
                  <a:pt x="237067" y="321872"/>
                  <a:pt x="237067" y="342900"/>
                </a:cubicBezTo>
                <a:cubicBezTo>
                  <a:pt x="237067" y="363928"/>
                  <a:pt x="221892" y="381000"/>
                  <a:pt x="203200" y="381000"/>
                </a:cubicBezTo>
                <a:cubicBezTo>
                  <a:pt x="184508" y="381000"/>
                  <a:pt x="169333" y="363928"/>
                  <a:pt x="169333" y="342900"/>
                </a:cubicBezTo>
                <a:close/>
                <a:moveTo>
                  <a:pt x="118533" y="258921"/>
                </a:moveTo>
                <a:cubicBezTo>
                  <a:pt x="110278" y="269478"/>
                  <a:pt x="96026" y="270431"/>
                  <a:pt x="86642" y="261144"/>
                </a:cubicBezTo>
                <a:cubicBezTo>
                  <a:pt x="77258" y="251857"/>
                  <a:pt x="76412" y="235823"/>
                  <a:pt x="84667" y="225266"/>
                </a:cubicBezTo>
                <a:cubicBezTo>
                  <a:pt x="113594" y="188436"/>
                  <a:pt x="155998" y="165100"/>
                  <a:pt x="203200" y="165100"/>
                </a:cubicBezTo>
                <a:cubicBezTo>
                  <a:pt x="250402" y="165100"/>
                  <a:pt x="292806" y="188436"/>
                  <a:pt x="321733" y="225266"/>
                </a:cubicBezTo>
                <a:cubicBezTo>
                  <a:pt x="329988" y="235823"/>
                  <a:pt x="329071" y="251857"/>
                  <a:pt x="319758" y="261144"/>
                </a:cubicBezTo>
                <a:cubicBezTo>
                  <a:pt x="310444" y="270431"/>
                  <a:pt x="296122" y="269399"/>
                  <a:pt x="287867" y="258921"/>
                </a:cubicBezTo>
                <a:cubicBezTo>
                  <a:pt x="267123" y="232489"/>
                  <a:pt x="236926" y="215900"/>
                  <a:pt x="203200" y="215900"/>
                </a:cubicBezTo>
                <a:cubicBezTo>
                  <a:pt x="169474" y="215900"/>
                  <a:pt x="139277" y="232489"/>
                  <a:pt x="118533" y="258921"/>
                </a:cubicBezTo>
                <a:close/>
              </a:path>
            </a:pathLst>
          </a:cu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649200" y="1219200"/>
            <a:ext cx="2895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Module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41200" y="1727200"/>
            <a:ext cx="3403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ESP8266 or ESP32 for wireless connectivity and remote data access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8000" y="3327400"/>
            <a:ext cx="3556000" cy="2032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1200" y="3505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66700"/>
                </a:moveTo>
                <a:cubicBezTo>
                  <a:pt x="0" y="329803"/>
                  <a:pt x="45508" y="381000"/>
                  <a:pt x="101600" y="381000"/>
                </a:cubicBezTo>
                <a:lnTo>
                  <a:pt x="316089" y="381000"/>
                </a:lnTo>
                <a:cubicBezTo>
                  <a:pt x="365972" y="381000"/>
                  <a:pt x="406400" y="335518"/>
                  <a:pt x="406400" y="279400"/>
                </a:cubicBezTo>
                <a:cubicBezTo>
                  <a:pt x="406400" y="238442"/>
                  <a:pt x="384881" y="203121"/>
                  <a:pt x="353836" y="187087"/>
                </a:cubicBezTo>
                <a:cubicBezTo>
                  <a:pt x="358563" y="176689"/>
                  <a:pt x="361244" y="164862"/>
                  <a:pt x="361244" y="152400"/>
                </a:cubicBezTo>
                <a:cubicBezTo>
                  <a:pt x="361244" y="110331"/>
                  <a:pt x="330906" y="76200"/>
                  <a:pt x="293511" y="76200"/>
                </a:cubicBezTo>
                <a:cubicBezTo>
                  <a:pt x="281023" y="76200"/>
                  <a:pt x="269381" y="80010"/>
                  <a:pt x="259362" y="86598"/>
                </a:cubicBezTo>
                <a:cubicBezTo>
                  <a:pt x="242358" y="50244"/>
                  <a:pt x="208421" y="25400"/>
                  <a:pt x="169333" y="25400"/>
                </a:cubicBezTo>
                <a:cubicBezTo>
                  <a:pt x="113242" y="25400"/>
                  <a:pt x="67733" y="76597"/>
                  <a:pt x="67733" y="139700"/>
                </a:cubicBezTo>
                <a:cubicBezTo>
                  <a:pt x="67733" y="146050"/>
                  <a:pt x="68227" y="152321"/>
                  <a:pt x="69074" y="158353"/>
                </a:cubicBezTo>
                <a:cubicBezTo>
                  <a:pt x="28928" y="173593"/>
                  <a:pt x="0" y="216376"/>
                  <a:pt x="0" y="266700"/>
                </a:cubicBezTo>
                <a:close/>
              </a:path>
            </a:pathLst>
          </a:cu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19200" y="3505200"/>
            <a:ext cx="2641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Protocol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1200" y="4013200"/>
            <a:ext cx="3149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sensor data to an MQTT broker for IoT integration and messaging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318000" y="3327400"/>
            <a:ext cx="3556000" cy="2032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21200" y="3505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90500" y="76200"/>
                </a:moveTo>
                <a:cubicBezTo>
                  <a:pt x="195818" y="76200"/>
                  <a:pt x="200898" y="78423"/>
                  <a:pt x="204549" y="82391"/>
                </a:cubicBezTo>
                <a:lnTo>
                  <a:pt x="260985" y="143907"/>
                </a:lnTo>
                <a:lnTo>
                  <a:pt x="297656" y="107156"/>
                </a:lnTo>
                <a:cubicBezTo>
                  <a:pt x="305118" y="99695"/>
                  <a:pt x="317183" y="99695"/>
                  <a:pt x="324564" y="107156"/>
                </a:cubicBezTo>
                <a:lnTo>
                  <a:pt x="375364" y="157956"/>
                </a:lnTo>
                <a:cubicBezTo>
                  <a:pt x="378936" y="161528"/>
                  <a:pt x="380921" y="166370"/>
                  <a:pt x="380921" y="171450"/>
                </a:cubicBezTo>
                <a:lnTo>
                  <a:pt x="380921" y="260350"/>
                </a:lnTo>
                <a:cubicBezTo>
                  <a:pt x="380921" y="270907"/>
                  <a:pt x="372428" y="279400"/>
                  <a:pt x="361871" y="279400"/>
                </a:cubicBezTo>
                <a:lnTo>
                  <a:pt x="120571" y="279400"/>
                </a:lnTo>
                <a:cubicBezTo>
                  <a:pt x="110014" y="279400"/>
                  <a:pt x="101521" y="270907"/>
                  <a:pt x="101521" y="260350"/>
                </a:cubicBezTo>
                <a:lnTo>
                  <a:pt x="101521" y="171450"/>
                </a:lnTo>
                <a:cubicBezTo>
                  <a:pt x="101521" y="166688"/>
                  <a:pt x="103346" y="162084"/>
                  <a:pt x="106521" y="158591"/>
                </a:cubicBezTo>
                <a:lnTo>
                  <a:pt x="176371" y="82391"/>
                </a:lnTo>
                <a:cubicBezTo>
                  <a:pt x="179943" y="78423"/>
                  <a:pt x="185103" y="76200"/>
                  <a:pt x="190421" y="76200"/>
                </a:cubicBezTo>
                <a:close/>
              </a:path>
            </a:pathLst>
          </a:cu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0" y="3505200"/>
            <a:ext cx="2641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Dashboard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21200" y="4013200"/>
            <a:ext cx="3149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visualization with real-time charts, historical trends, and alerts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28000" y="3327400"/>
            <a:ext cx="3556000" cy="2032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331200" y="3505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839200" y="3505200"/>
            <a:ext cx="2641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/ TFLite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31200" y="4013200"/>
            <a:ext cx="3149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for Microcontrollers for more complex on-device ML models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1938000" y="3327400"/>
            <a:ext cx="3810000" cy="2032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2141200" y="3505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5280" y="101600"/>
                </a:moveTo>
                <a:cubicBezTo>
                  <a:pt x="340868" y="101600"/>
                  <a:pt x="345440" y="107315"/>
                  <a:pt x="345440" y="114300"/>
                </a:cubicBezTo>
                <a:lnTo>
                  <a:pt x="345440" y="292100"/>
                </a:lnTo>
                <a:cubicBezTo>
                  <a:pt x="345440" y="299085"/>
                  <a:pt x="340868" y="304800"/>
                  <a:pt x="335280" y="304800"/>
                </a:cubicBezTo>
                <a:lnTo>
                  <a:pt x="71120" y="304800"/>
                </a:lnTo>
                <a:cubicBezTo>
                  <a:pt x="65532" y="304800"/>
                  <a:pt x="60960" y="299085"/>
                  <a:pt x="60960" y="292100"/>
                </a:cubicBezTo>
                <a:lnTo>
                  <a:pt x="60960" y="114300"/>
                </a:lnTo>
                <a:cubicBezTo>
                  <a:pt x="60960" y="107315"/>
                  <a:pt x="65532" y="101600"/>
                  <a:pt x="71120" y="101600"/>
                </a:cubicBezTo>
                <a:lnTo>
                  <a:pt x="335280" y="101600"/>
                </a:lnTo>
                <a:close/>
                <a:moveTo>
                  <a:pt x="71120" y="50800"/>
                </a:moveTo>
                <a:cubicBezTo>
                  <a:pt x="43053" y="50800"/>
                  <a:pt x="20320" y="79216"/>
                  <a:pt x="20320" y="114300"/>
                </a:cubicBezTo>
                <a:lnTo>
                  <a:pt x="20320" y="292100"/>
                </a:lnTo>
                <a:cubicBezTo>
                  <a:pt x="20320" y="327184"/>
                  <a:pt x="43053" y="355600"/>
                  <a:pt x="71120" y="355600"/>
                </a:cubicBezTo>
                <a:lnTo>
                  <a:pt x="335280" y="355600"/>
                </a:lnTo>
                <a:cubicBezTo>
                  <a:pt x="363347" y="355600"/>
                  <a:pt x="386080" y="327184"/>
                  <a:pt x="386080" y="292100"/>
                </a:cubicBezTo>
                <a:lnTo>
                  <a:pt x="386080" y="254000"/>
                </a:lnTo>
                <a:cubicBezTo>
                  <a:pt x="397320" y="254000"/>
                  <a:pt x="406400" y="242649"/>
                  <a:pt x="406400" y="228600"/>
                </a:cubicBezTo>
                <a:lnTo>
                  <a:pt x="406400" y="177800"/>
                </a:lnTo>
                <a:cubicBezTo>
                  <a:pt x="406400" y="163751"/>
                  <a:pt x="397320" y="152400"/>
                  <a:pt x="386080" y="152400"/>
                </a:cubicBezTo>
                <a:lnTo>
                  <a:pt x="386080" y="114300"/>
                </a:lnTo>
                <a:cubicBezTo>
                  <a:pt x="386080" y="79216"/>
                  <a:pt x="363347" y="50800"/>
                  <a:pt x="335280" y="50800"/>
                </a:cubicBezTo>
                <a:lnTo>
                  <a:pt x="71120" y="50800"/>
                </a:lnTo>
                <a:close/>
                <a:moveTo>
                  <a:pt x="106680" y="139700"/>
                </a:moveTo>
                <a:cubicBezTo>
                  <a:pt x="98234" y="139700"/>
                  <a:pt x="91440" y="148193"/>
                  <a:pt x="91440" y="158750"/>
                </a:cubicBezTo>
                <a:lnTo>
                  <a:pt x="91440" y="247650"/>
                </a:lnTo>
                <a:cubicBezTo>
                  <a:pt x="91440" y="258207"/>
                  <a:pt x="98234" y="266700"/>
                  <a:pt x="106680" y="266700"/>
                </a:cubicBezTo>
                <a:lnTo>
                  <a:pt x="198120" y="266700"/>
                </a:lnTo>
                <a:cubicBezTo>
                  <a:pt x="206566" y="266700"/>
                  <a:pt x="213360" y="258207"/>
                  <a:pt x="213360" y="247650"/>
                </a:cubicBezTo>
                <a:lnTo>
                  <a:pt x="213360" y="158750"/>
                </a:lnTo>
                <a:cubicBezTo>
                  <a:pt x="213360" y="148193"/>
                  <a:pt x="206566" y="139700"/>
                  <a:pt x="198120" y="139700"/>
                </a:cubicBezTo>
                <a:lnTo>
                  <a:pt x="106680" y="139700"/>
                </a:lnTo>
                <a:close/>
              </a:path>
            </a:pathLst>
          </a:cu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2649200" y="3505200"/>
            <a:ext cx="2895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Power Mode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141200" y="4013200"/>
            <a:ext cx="3403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sleep/wake cycles for battery-operated outdoor deployment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08000" y="5689600"/>
            <a:ext cx="15240000" cy="16764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62000" y="5816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62000" y="6223000"/>
            <a:ext cx="14732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</a:t>
            </a: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Mock sensors + Modular software architecture + Corporative Scheduler + AQI Calculation + PM2.5 filtering + UART — </a:t>
            </a:r>
            <a:r>
              <a:rPr lang="en-US" sz="15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</a:t>
            </a: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 sensors + Machine Learning prediction + Embedded ML deployment + Advanced alarm &amp; hysteresis + Improved system reporting — </a:t>
            </a:r>
            <a:r>
              <a:rPr lang="en-US" sz="15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</a:t>
            </a: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Wi-Fi + MQTT + Cloud + TinyML — </a:t>
            </a:r>
            <a:r>
              <a:rPr lang="en-US" sz="15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0000"/>
            <a:ext cx="16256000" cy="406400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6000" y="1016000"/>
            <a:ext cx="139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016000" y="2133600"/>
            <a:ext cx="1143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kern="0" spc="5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16000" y="2717800"/>
            <a:ext cx="14224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6000" y="2921000"/>
            <a:ext cx="4572000" cy="508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8400" y="302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529" y="-1488"/>
                </a:moveTo>
                <a:cubicBezTo>
                  <a:pt x="145316" y="-8275"/>
                  <a:pt x="159841" y="-8275"/>
                  <a:pt x="171629" y="-1488"/>
                </a:cubicBezTo>
                <a:lnTo>
                  <a:pt x="276344" y="58936"/>
                </a:lnTo>
                <a:cubicBezTo>
                  <a:pt x="288131" y="65723"/>
                  <a:pt x="295394" y="78343"/>
                  <a:pt x="295394" y="91916"/>
                </a:cubicBezTo>
                <a:lnTo>
                  <a:pt x="295394" y="212765"/>
                </a:lnTo>
                <a:cubicBezTo>
                  <a:pt x="295394" y="226397"/>
                  <a:pt x="288131" y="238958"/>
                  <a:pt x="276344" y="245745"/>
                </a:cubicBezTo>
                <a:lnTo>
                  <a:pt x="171629" y="306288"/>
                </a:lnTo>
                <a:cubicBezTo>
                  <a:pt x="159841" y="313075"/>
                  <a:pt x="145316" y="313075"/>
                  <a:pt x="133529" y="306288"/>
                </a:cubicBezTo>
                <a:lnTo>
                  <a:pt x="28873" y="245864"/>
                </a:lnTo>
                <a:cubicBezTo>
                  <a:pt x="17085" y="239078"/>
                  <a:pt x="9823" y="226457"/>
                  <a:pt x="9823" y="212884"/>
                </a:cubicBezTo>
                <a:lnTo>
                  <a:pt x="9823" y="92035"/>
                </a:lnTo>
                <a:cubicBezTo>
                  <a:pt x="9823" y="78403"/>
                  <a:pt x="17085" y="65842"/>
                  <a:pt x="28873" y="59055"/>
                </a:cubicBezTo>
                <a:lnTo>
                  <a:pt x="133529" y="-1488"/>
                </a:lnTo>
                <a:close/>
                <a:moveTo>
                  <a:pt x="257235" y="212824"/>
                </a:moveTo>
                <a:lnTo>
                  <a:pt x="257235" y="113943"/>
                </a:lnTo>
                <a:lnTo>
                  <a:pt x="171629" y="163354"/>
                </a:lnTo>
                <a:lnTo>
                  <a:pt x="171629" y="262235"/>
                </a:lnTo>
                <a:lnTo>
                  <a:pt x="257235" y="212824"/>
                </a:lnTo>
                <a:close/>
              </a:path>
            </a:pathLst>
          </a:cu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74800" y="2921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Embedded Architecture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842000" y="2921000"/>
            <a:ext cx="4572000" cy="508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94400" y="302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2921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Environmental Monitoring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668000" y="2921000"/>
            <a:ext cx="4572000" cy="508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820400" y="302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71450" y="19050"/>
                </a:moveTo>
                <a:cubicBezTo>
                  <a:pt x="171450" y="29587"/>
                  <a:pt x="179963" y="38100"/>
                  <a:pt x="190500" y="38100"/>
                </a:cubicBezTo>
                <a:lnTo>
                  <a:pt x="214313" y="38100"/>
                </a:lnTo>
                <a:cubicBezTo>
                  <a:pt x="222230" y="38100"/>
                  <a:pt x="228600" y="44470"/>
                  <a:pt x="228600" y="52388"/>
                </a:cubicBezTo>
                <a:cubicBezTo>
                  <a:pt x="228600" y="60305"/>
                  <a:pt x="222230" y="66675"/>
                  <a:pt x="214313" y="66675"/>
                </a:cubicBezTo>
                <a:lnTo>
                  <a:pt x="19050" y="66675"/>
                </a:lnTo>
                <a:cubicBezTo>
                  <a:pt x="8513" y="66675"/>
                  <a:pt x="0" y="75188"/>
                  <a:pt x="0" y="85725"/>
                </a:cubicBezTo>
                <a:cubicBezTo>
                  <a:pt x="0" y="96262"/>
                  <a:pt x="8513" y="104775"/>
                  <a:pt x="19050" y="104775"/>
                </a:cubicBezTo>
                <a:lnTo>
                  <a:pt x="214313" y="104775"/>
                </a:lnTo>
                <a:cubicBezTo>
                  <a:pt x="243245" y="104775"/>
                  <a:pt x="266700" y="81320"/>
                  <a:pt x="266700" y="52388"/>
                </a:cubicBezTo>
                <a:cubicBezTo>
                  <a:pt x="266700" y="23455"/>
                  <a:pt x="243245" y="0"/>
                  <a:pt x="214313" y="0"/>
                </a:cubicBezTo>
                <a:lnTo>
                  <a:pt x="190500" y="0"/>
                </a:lnTo>
                <a:cubicBezTo>
                  <a:pt x="179963" y="0"/>
                  <a:pt x="171450" y="8513"/>
                  <a:pt x="171450" y="19050"/>
                </a:cubicBezTo>
                <a:close/>
                <a:moveTo>
                  <a:pt x="209550" y="228600"/>
                </a:moveTo>
                <a:cubicBezTo>
                  <a:pt x="209550" y="239137"/>
                  <a:pt x="218063" y="247650"/>
                  <a:pt x="228600" y="247650"/>
                </a:cubicBezTo>
                <a:lnTo>
                  <a:pt x="247650" y="247650"/>
                </a:lnTo>
                <a:cubicBezTo>
                  <a:pt x="279202" y="247650"/>
                  <a:pt x="304800" y="222052"/>
                  <a:pt x="304800" y="190500"/>
                </a:cubicBezTo>
                <a:cubicBezTo>
                  <a:pt x="304800" y="158948"/>
                  <a:pt x="279202" y="133350"/>
                  <a:pt x="247650" y="133350"/>
                </a:cubicBez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228600" y="209550"/>
                </a:lnTo>
                <a:cubicBezTo>
                  <a:pt x="218063" y="209550"/>
                  <a:pt x="209550" y="218063"/>
                  <a:pt x="209550" y="228600"/>
                </a:cubicBezTo>
                <a:close/>
                <a:moveTo>
                  <a:pt x="76200" y="304800"/>
                </a:moveTo>
                <a:lnTo>
                  <a:pt x="100013" y="304800"/>
                </a:lnTo>
                <a:cubicBezTo>
                  <a:pt x="128945" y="304800"/>
                  <a:pt x="152400" y="281345"/>
                  <a:pt x="152400" y="252413"/>
                </a:cubicBezTo>
                <a:cubicBezTo>
                  <a:pt x="152400" y="223480"/>
                  <a:pt x="128945" y="200025"/>
                  <a:pt x="100013" y="200025"/>
                </a:cubicBezTo>
                <a:lnTo>
                  <a:pt x="19050" y="200025"/>
                </a:lnTo>
                <a:cubicBezTo>
                  <a:pt x="8513" y="200025"/>
                  <a:pt x="0" y="208538"/>
                  <a:pt x="0" y="219075"/>
                </a:cubicBezTo>
                <a:cubicBezTo>
                  <a:pt x="0" y="229612"/>
                  <a:pt x="8513" y="238125"/>
                  <a:pt x="19050" y="238125"/>
                </a:cubicBezTo>
                <a:lnTo>
                  <a:pt x="100013" y="238125"/>
                </a:lnTo>
                <a:cubicBezTo>
                  <a:pt x="107930" y="238125"/>
                  <a:pt x="114300" y="244495"/>
                  <a:pt x="114300" y="252413"/>
                </a:cubicBezTo>
                <a:cubicBezTo>
                  <a:pt x="114300" y="260330"/>
                  <a:pt x="107930" y="266700"/>
                  <a:pt x="100013" y="266700"/>
                </a:cubicBezTo>
                <a:lnTo>
                  <a:pt x="76200" y="266700"/>
                </a:lnTo>
                <a:cubicBezTo>
                  <a:pt x="65663" y="266700"/>
                  <a:pt x="57150" y="275213"/>
                  <a:pt x="57150" y="285750"/>
                </a:cubicBezTo>
                <a:cubicBezTo>
                  <a:pt x="57150" y="296287"/>
                  <a:pt x="65663" y="304800"/>
                  <a:pt x="76200" y="304800"/>
                </a:cubicBezTo>
                <a:close/>
              </a:path>
            </a:pathLst>
          </a:cu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226800" y="2921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Analysis &amp; Alarm System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16000" y="3581400"/>
            <a:ext cx="4572000" cy="508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68400" y="368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1A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74800" y="35814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Prediction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842000" y="3581400"/>
            <a:ext cx="4572000" cy="508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94400" y="368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550" y="0"/>
                </a:moveTo>
                <a:cubicBezTo>
                  <a:pt x="233958" y="0"/>
                  <a:pt x="257354" y="9704"/>
                  <a:pt x="274558" y="26908"/>
                </a:cubicBezTo>
                <a:lnTo>
                  <a:pt x="277832" y="30182"/>
                </a:lnTo>
                <a:cubicBezTo>
                  <a:pt x="295096" y="47446"/>
                  <a:pt x="304800" y="70842"/>
                  <a:pt x="304800" y="95190"/>
                </a:cubicBezTo>
                <a:cubicBezTo>
                  <a:pt x="304800" y="109537"/>
                  <a:pt x="301407" y="123527"/>
                  <a:pt x="295156" y="136148"/>
                </a:cubicBezTo>
                <a:cubicBezTo>
                  <a:pt x="294025" y="138351"/>
                  <a:pt x="292001" y="140018"/>
                  <a:pt x="289620" y="140732"/>
                </a:cubicBezTo>
                <a:lnTo>
                  <a:pt x="222945" y="160734"/>
                </a:lnTo>
                <a:cubicBezTo>
                  <a:pt x="220623" y="161449"/>
                  <a:pt x="219075" y="163532"/>
                  <a:pt x="219075" y="165973"/>
                </a:cubicBezTo>
                <a:cubicBezTo>
                  <a:pt x="219075" y="169009"/>
                  <a:pt x="221516" y="171450"/>
                  <a:pt x="224552" y="171450"/>
                </a:cubicBezTo>
                <a:lnTo>
                  <a:pt x="243721" y="171450"/>
                </a:lnTo>
                <a:cubicBezTo>
                  <a:pt x="252234" y="171450"/>
                  <a:pt x="256461" y="181689"/>
                  <a:pt x="250448" y="187702"/>
                </a:cubicBezTo>
                <a:lnTo>
                  <a:pt x="237113" y="201037"/>
                </a:lnTo>
                <a:cubicBezTo>
                  <a:pt x="235982" y="202168"/>
                  <a:pt x="234613" y="202942"/>
                  <a:pt x="233124" y="203418"/>
                </a:cubicBezTo>
                <a:lnTo>
                  <a:pt x="184904" y="217884"/>
                </a:lnTo>
                <a:cubicBezTo>
                  <a:pt x="182582" y="218599"/>
                  <a:pt x="181035" y="220682"/>
                  <a:pt x="181035" y="223123"/>
                </a:cubicBezTo>
                <a:cubicBezTo>
                  <a:pt x="181035" y="226159"/>
                  <a:pt x="183475" y="228600"/>
                  <a:pt x="186511" y="228600"/>
                </a:cubicBezTo>
                <a:cubicBezTo>
                  <a:pt x="194370" y="228600"/>
                  <a:pt x="197763" y="237946"/>
                  <a:pt x="191155" y="242233"/>
                </a:cubicBezTo>
                <a:cubicBezTo>
                  <a:pt x="166688" y="258068"/>
                  <a:pt x="137993" y="266700"/>
                  <a:pt x="108406" y="266700"/>
                </a:cubicBezTo>
                <a:lnTo>
                  <a:pt x="57210" y="266700"/>
                </a:lnTo>
                <a:lnTo>
                  <a:pt x="28635" y="295275"/>
                </a:lnTo>
                <a:cubicBezTo>
                  <a:pt x="23396" y="300514"/>
                  <a:pt x="14823" y="300514"/>
                  <a:pt x="9585" y="295275"/>
                </a:cubicBezTo>
                <a:cubicBezTo>
                  <a:pt x="4346" y="290036"/>
                  <a:pt x="4346" y="281464"/>
                  <a:pt x="9585" y="276225"/>
                </a:cubicBezTo>
                <a:lnTo>
                  <a:pt x="152400" y="133350"/>
                </a:lnTo>
                <a:cubicBezTo>
                  <a:pt x="157639" y="128111"/>
                  <a:pt x="157639" y="119539"/>
                  <a:pt x="152400" y="114300"/>
                </a:cubicBezTo>
                <a:cubicBezTo>
                  <a:pt x="147161" y="109061"/>
                  <a:pt x="138589" y="109061"/>
                  <a:pt x="133350" y="114300"/>
                </a:cubicBezTo>
                <a:lnTo>
                  <a:pt x="47327" y="200323"/>
                </a:lnTo>
                <a:cubicBezTo>
                  <a:pt x="43934" y="203716"/>
                  <a:pt x="38100" y="201335"/>
                  <a:pt x="38100" y="196513"/>
                </a:cubicBezTo>
                <a:cubicBezTo>
                  <a:pt x="38100" y="156091"/>
                  <a:pt x="54173" y="117336"/>
                  <a:pt x="82748" y="88761"/>
                </a:cubicBezTo>
                <a:lnTo>
                  <a:pt x="144542" y="26908"/>
                </a:lnTo>
                <a:cubicBezTo>
                  <a:pt x="161746" y="9704"/>
                  <a:pt x="185142" y="0"/>
                  <a:pt x="209550" y="0"/>
                </a:cubicBezTo>
                <a:close/>
              </a:path>
            </a:pathLst>
          </a:custGeom>
          <a:solidFill>
            <a:srgbClr val="5B9B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35814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Embedded AI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668000" y="3581400"/>
            <a:ext cx="4572000" cy="508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820400" y="368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1233" y="52388"/>
                </a:moveTo>
                <a:lnTo>
                  <a:pt x="173567" y="52388"/>
                </a:lnTo>
                <a:lnTo>
                  <a:pt x="173567" y="80962"/>
                </a:lnTo>
                <a:lnTo>
                  <a:pt x="131233" y="80962"/>
                </a:lnTo>
                <a:lnTo>
                  <a:pt x="131233" y="52388"/>
                </a:lnTo>
                <a:close/>
                <a:moveTo>
                  <a:pt x="127000" y="19050"/>
                </a:moveTo>
                <a:cubicBezTo>
                  <a:pt x="112977" y="19050"/>
                  <a:pt x="101600" y="31849"/>
                  <a:pt x="101600" y="47625"/>
                </a:cubicBezTo>
                <a:lnTo>
                  <a:pt x="101600" y="85725"/>
                </a:lnTo>
                <a:cubicBezTo>
                  <a:pt x="101600" y="101501"/>
                  <a:pt x="112977" y="114300"/>
                  <a:pt x="127000" y="114300"/>
                </a:cubicBezTo>
                <a:lnTo>
                  <a:pt x="135467" y="114300"/>
                </a:lnTo>
                <a:lnTo>
                  <a:pt x="135467" y="133350"/>
                </a:lnTo>
                <a:lnTo>
                  <a:pt x="16933" y="133350"/>
                </a:lnTo>
                <a:cubicBezTo>
                  <a:pt x="7567" y="133350"/>
                  <a:pt x="0" y="141863"/>
                  <a:pt x="0" y="152400"/>
                </a:cubicBezTo>
                <a:cubicBezTo>
                  <a:pt x="0" y="162937"/>
                  <a:pt x="7567" y="171450"/>
                  <a:pt x="16933" y="171450"/>
                </a:cubicBezTo>
                <a:lnTo>
                  <a:pt x="67733" y="171450"/>
                </a:lnTo>
                <a:lnTo>
                  <a:pt x="67733" y="190500"/>
                </a:lnTo>
                <a:lnTo>
                  <a:pt x="59267" y="190500"/>
                </a:lnTo>
                <a:cubicBezTo>
                  <a:pt x="45244" y="190500"/>
                  <a:pt x="33867" y="203299"/>
                  <a:pt x="33867" y="219075"/>
                </a:cubicBezTo>
                <a:lnTo>
                  <a:pt x="33867" y="257175"/>
                </a:lnTo>
                <a:cubicBezTo>
                  <a:pt x="33867" y="272951"/>
                  <a:pt x="45244" y="285750"/>
                  <a:pt x="59267" y="285750"/>
                </a:cubicBezTo>
                <a:lnTo>
                  <a:pt x="110067" y="285750"/>
                </a:lnTo>
                <a:cubicBezTo>
                  <a:pt x="124090" y="285750"/>
                  <a:pt x="135467" y="272951"/>
                  <a:pt x="135467" y="257175"/>
                </a:cubicBezTo>
                <a:lnTo>
                  <a:pt x="135467" y="219075"/>
                </a:lnTo>
                <a:cubicBezTo>
                  <a:pt x="135467" y="203299"/>
                  <a:pt x="124090" y="190500"/>
                  <a:pt x="110067" y="190500"/>
                </a:cubicBezTo>
                <a:lnTo>
                  <a:pt x="101600" y="190500"/>
                </a:lnTo>
                <a:lnTo>
                  <a:pt x="101600" y="171450"/>
                </a:lnTo>
                <a:lnTo>
                  <a:pt x="203200" y="171450"/>
                </a:lnTo>
                <a:lnTo>
                  <a:pt x="203200" y="190500"/>
                </a:lnTo>
                <a:lnTo>
                  <a:pt x="194733" y="190500"/>
                </a:lnTo>
                <a:cubicBezTo>
                  <a:pt x="180710" y="190500"/>
                  <a:pt x="169333" y="203299"/>
                  <a:pt x="169333" y="219075"/>
                </a:cubicBezTo>
                <a:lnTo>
                  <a:pt x="169333" y="257175"/>
                </a:lnTo>
                <a:cubicBezTo>
                  <a:pt x="169333" y="272951"/>
                  <a:pt x="180710" y="285750"/>
                  <a:pt x="194733" y="285750"/>
                </a:cubicBezTo>
                <a:lnTo>
                  <a:pt x="245533" y="285750"/>
                </a:lnTo>
                <a:cubicBezTo>
                  <a:pt x="259556" y="285750"/>
                  <a:pt x="270933" y="272951"/>
                  <a:pt x="270933" y="257175"/>
                </a:cubicBezTo>
                <a:lnTo>
                  <a:pt x="270933" y="219075"/>
                </a:lnTo>
                <a:cubicBezTo>
                  <a:pt x="270933" y="203299"/>
                  <a:pt x="259556" y="190500"/>
                  <a:pt x="245533" y="190500"/>
                </a:cubicBezTo>
                <a:lnTo>
                  <a:pt x="237067" y="190500"/>
                </a:lnTo>
                <a:lnTo>
                  <a:pt x="237067" y="171450"/>
                </a:lnTo>
                <a:lnTo>
                  <a:pt x="287867" y="171450"/>
                </a:lnTo>
                <a:cubicBezTo>
                  <a:pt x="297233" y="171450"/>
                  <a:pt x="304800" y="162937"/>
                  <a:pt x="304800" y="152400"/>
                </a:cubicBezTo>
                <a:cubicBezTo>
                  <a:pt x="304800" y="141863"/>
                  <a:pt x="297233" y="133350"/>
                  <a:pt x="287867" y="133350"/>
                </a:cubicBezTo>
                <a:lnTo>
                  <a:pt x="169333" y="133350"/>
                </a:lnTo>
                <a:lnTo>
                  <a:pt x="169333" y="114300"/>
                </a:lnTo>
                <a:lnTo>
                  <a:pt x="177800" y="114300"/>
                </a:lnTo>
                <a:cubicBezTo>
                  <a:pt x="191823" y="114300"/>
                  <a:pt x="203200" y="101501"/>
                  <a:pt x="203200" y="85725"/>
                </a:cubicBezTo>
                <a:lnTo>
                  <a:pt x="203200" y="47625"/>
                </a:lnTo>
                <a:cubicBezTo>
                  <a:pt x="203200" y="31849"/>
                  <a:pt x="191823" y="19050"/>
                  <a:pt x="177800" y="19050"/>
                </a:cubicBezTo>
                <a:lnTo>
                  <a:pt x="127000" y="19050"/>
                </a:lnTo>
                <a:close/>
                <a:moveTo>
                  <a:pt x="237067" y="223838"/>
                </a:moveTo>
                <a:lnTo>
                  <a:pt x="241300" y="223838"/>
                </a:lnTo>
                <a:lnTo>
                  <a:pt x="241300" y="252413"/>
                </a:lnTo>
                <a:lnTo>
                  <a:pt x="198967" y="252413"/>
                </a:lnTo>
                <a:lnTo>
                  <a:pt x="198967" y="223838"/>
                </a:lnTo>
                <a:lnTo>
                  <a:pt x="237067" y="223838"/>
                </a:lnTo>
                <a:close/>
                <a:moveTo>
                  <a:pt x="101600" y="223838"/>
                </a:moveTo>
                <a:lnTo>
                  <a:pt x="105833" y="223838"/>
                </a:lnTo>
                <a:lnTo>
                  <a:pt x="105833" y="252413"/>
                </a:lnTo>
                <a:lnTo>
                  <a:pt x="63500" y="252413"/>
                </a:lnTo>
                <a:lnTo>
                  <a:pt x="63500" y="223838"/>
                </a:lnTo>
                <a:lnTo>
                  <a:pt x="101600" y="223838"/>
                </a:lnTo>
                <a:close/>
              </a:path>
            </a:pathLst>
          </a:cu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226800" y="35814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IoT Platform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16000" y="4318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IoT-ML Weather &amp; Air Quality Monitoring System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16000" y="47498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 Course Project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16000" y="5562600"/>
            <a:ext cx="1016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1016000" y="64008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1528</Words>
  <Application>Microsoft Office PowerPoint</Application>
  <PresentationFormat>Custom</PresentationFormat>
  <Paragraphs>302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IoT-ML Weather &amp; Air Quality Monitoring System</dc:title>
  <dc:subject>IoT-ML Weather &amp; Air Quality Monitoring System</dc:subject>
  <dc:creator>Kimi</dc:creator>
  <cp:lastModifiedBy>behnam gh</cp:lastModifiedBy>
  <cp:revision>3</cp:revision>
  <dcterms:created xsi:type="dcterms:W3CDTF">2026-07-02T23:03:32Z</dcterms:created>
  <dcterms:modified xsi:type="dcterms:W3CDTF">2026-07-03T00:03:57Z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{"Label":"IoT-ML Weather &amp; Air Quality Monitoring System","ContentProducer":"001191110108MACG2KBH8F10000","ProduceID":"19f25013-cac2-8461-8000-00002ee586d3","ReservedCode1":"","ContentPropagator":"001191110108MACG2KBH8F20000","PropagateID":"19f24ff0-0912-80a6-8000-09062d79a1fc","ReservedCode2":""}</vt:lpwstr>
  </property>
</Properties>
</file>